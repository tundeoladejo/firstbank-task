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29"/>
    <p:sldId id="266" r:id="rId30"/>
    <p:sldId id="267" r:id="rId31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Hanken Grotesk"/>
      <p:regular r:id="rId21"/>
      <p:bold r:id="rId22"/>
      <p:italic r:id="rId23"/>
      <p:boldItalic r:id="rId24"/>
    </p:embeddedFont>
    <p:embeddedFont>
      <p:font typeface="Raleway ExtraBold"/>
      <p:bold r:id="rId25"/>
      <p:boldItalic r:id="rId26"/>
    </p:embeddedFont>
    <p:embeddedFont>
      <p:font typeface="Raleway Black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B724A-81A7-4DF1-8F60-28FEFA804709}">
  <a:tblStyle styleId="{F4AB724A-81A7-4DF1-8F60-28FEFA8047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HankenGrotesk-bold.fntdata"/><Relationship Id="rId21" Type="http://schemas.openxmlformats.org/officeDocument/2006/relationships/font" Target="fonts/HankenGrotesk-regular.fntdata"/><Relationship Id="rId24" Type="http://schemas.openxmlformats.org/officeDocument/2006/relationships/font" Target="fonts/HankenGrotesk-boldItalic.fntdata"/><Relationship Id="rId23" Type="http://schemas.openxmlformats.org/officeDocument/2006/relationships/font" Target="fonts/HankenGrotesk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ExtraBold-boldItalic.fntdata"/><Relationship Id="rId25" Type="http://schemas.openxmlformats.org/officeDocument/2006/relationships/font" Target="fonts/RalewayExtraBold-bold.fntdata"/><Relationship Id="rId28" Type="http://schemas.openxmlformats.org/officeDocument/2006/relationships/font" Target="fonts/RalewayBlack-boldItalic.fntdata"/><Relationship Id="rId27" Type="http://schemas.openxmlformats.org/officeDocument/2006/relationships/font" Target="fonts/RalewayBlac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aleway-regular.fntdata"/><Relationship Id="rId16" Type="http://schemas.openxmlformats.org/officeDocument/2006/relationships/slide" Target="slides/slide9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b7e33bebb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fb7e33bebb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fb7e33bebb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fb7e33bebb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b7e33bebb_0_2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fb7e33bebb_0_2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b7e33bebb_0_2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fb7e33bebb_0_2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b7e33bebb_0_3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fb7e33bebb_0_3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fb7e33bebb_0_3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fb7e33bebb_0_3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b7e33bebb_0_3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fb7e33bebb_0_3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b7e33bebb_0_4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fb7e33bebb_0_4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b7e33bebb_0_4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fb7e33bebb_0_4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57" name="Google Shape;57;p14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60" name="Google Shape;60;p1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14"/>
          <p:cNvGrpSpPr/>
          <p:nvPr/>
        </p:nvGrpSpPr>
        <p:grpSpPr>
          <a:xfrm flipH="1" rot="5400000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" name="Google Shape;65;p14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1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67" name="Google Shape;67;p1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5"/>
          <p:cNvSpPr txBox="1"/>
          <p:nvPr>
            <p:ph hasCustomPrompt="1"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72" name="Google Shape;72;p15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15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5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5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" name="Google Shape;83;p15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88" name="Google Shape;88;p15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93" name="Google Shape;93;p16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94" name="Google Shape;94;p16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16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97" name="Google Shape;97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" name="Google Shape;99;p16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101" name="Google Shape;101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6" name="Google Shape;106;p16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7" name="Google Shape;107;p16"/>
            <p:cNvGrpSpPr/>
            <p:nvPr/>
          </p:nvGrpSpPr>
          <p:grpSpPr>
            <a:xfrm flipH="1" rot="10800000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108" name="Google Shape;108;p1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" name="Google Shape;110;p16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1" name="Google Shape;111;p16"/>
            <p:cNvGrpSpPr/>
            <p:nvPr/>
          </p:nvGrpSpPr>
          <p:grpSpPr>
            <a:xfrm flipH="1" rot="-5400000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112" name="Google Shape;112;p1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" name="Google Shape;114;p16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115" name="Google Shape;115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8" name="Google Shape;118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" name="Google Shape;119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0" name="Google Shape;120;p16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121" name="Google Shape;121;p16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30" name="Google Shape;130;p17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131" name="Google Shape;131;p17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17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34" name="Google Shape;134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" name="Google Shape;136;p17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137" name="Google Shape;137;p17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8" name="Google Shape;138;p17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139" name="Google Shape;139;p17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1" name="Google Shape;141;p17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2" name="Google Shape;142;p17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143" name="Google Shape;143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8" name="Google Shape;148;p17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49" name="Google Shape;149;p17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4" name="Google Shape;154;p18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55" name="Google Shape;155;p18"/>
            <p:cNvGrpSpPr/>
            <p:nvPr/>
          </p:nvGrpSpPr>
          <p:grpSpPr>
            <a:xfrm flipH="1" rot="5400000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56" name="Google Shape;156;p18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" name="Google Shape;157;p18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8" name="Google Shape;158;p18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8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60" name="Google Shape;160;p18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61" name="Google Shape;161;p18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18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3" name="Google Shape;163;p18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164" name="Google Shape;164;p18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65" name="Google Shape;165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70" name="Google Shape;170;p18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71" name="Google Shape;171;p18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72" name="Google Shape;172;p18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8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75" name="Google Shape;175;p18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" name="Google Shape;177;p18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78" name="Google Shape;178;p18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" name="Google Shape;183;p19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4" name="Google Shape;184;p19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85" name="Google Shape;185;p19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86" name="Google Shape;186;p19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87" name="Google Shape;187;p19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9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90" name="Google Shape;190;p19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92" name="Google Shape;192;p19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93" name="Google Shape;193;p19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94" name="Google Shape;194;p19"/>
            <p:cNvGrpSpPr/>
            <p:nvPr/>
          </p:nvGrpSpPr>
          <p:grpSpPr>
            <a:xfrm flipH="1" rot="-5400000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95" name="Google Shape;195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" name="Google Shape;197;p19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98" name="Google Shape;198;p19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99" name="Google Shape;199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19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202" name="Google Shape;202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" name="Google Shape;205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07" name="Google Shape;207;p19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208" name="Google Shape;208;p19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12" name="Google Shape;212;p20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213" name="Google Shape;213;p20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20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217" name="Google Shape;217;p20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0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220" name="Google Shape;220;p20"/>
            <p:cNvGrpSpPr/>
            <p:nvPr/>
          </p:nvGrpSpPr>
          <p:grpSpPr>
            <a:xfrm flipH="1" rot="10800000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221" name="Google Shape;221;p2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2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3" name="Google Shape;223;p2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20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225" name="Google Shape;225;p2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20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229" name="Google Shape;229;p2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2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2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2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2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2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9" name="Google Shape;239;p20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40" name="Google Shape;240;p20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241" name="Google Shape;241;p20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242" name="Google Shape;242;p20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43" name="Google Shape;243;p20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20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5" name="Google Shape;245;p20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46" name="Google Shape;246;p20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20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8" name="Google Shape;248;p20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1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21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56" name="Google Shape;256;p21"/>
            <p:cNvGrpSpPr/>
            <p:nvPr/>
          </p:nvGrpSpPr>
          <p:grpSpPr>
            <a:xfrm flipH="1" rot="-5400000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57" name="Google Shape;257;p21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21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9" name="Google Shape;259;p21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21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21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65" name="Google Shape;265;p2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2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7" name="Google Shape;267;p2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21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69" name="Google Shape;269;p2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2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2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2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2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2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2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2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79" name="Google Shape;279;p21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80" name="Google Shape;280;p21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81" name="Google Shape;281;p21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84" name="Google Shape;284;p21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85" name="Google Shape;285;p21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1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21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90" name="Google Shape;290;p2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94" name="Google Shape;294;p22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95" name="Google Shape;295;p22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96" name="Google Shape;296;p22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22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22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22"/>
            <p:cNvGrpSpPr/>
            <p:nvPr/>
          </p:nvGrpSpPr>
          <p:grpSpPr>
            <a:xfrm flipH="1" rot="5400000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300" name="Google Shape;300;p22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22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22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22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22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2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2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2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8" name="Google Shape;308;p2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9" name="Google Shape;309;p2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10" name="Google Shape;310;p22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311" name="Google Shape;311;p22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312" name="Google Shape;312;p22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" name="Google Shape;313;p22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4" name="Google Shape;314;p22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5" name="Google Shape;315;p22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6" name="Google Shape;316;p22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2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18" name="Google Shape;318;p22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319" name="Google Shape;319;p22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22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322" name="Google Shape;322;p22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323" name="Google Shape;323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22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326" name="Google Shape;326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8" name="Google Shape;328;p22"/>
            <p:cNvGrpSpPr/>
            <p:nvPr/>
          </p:nvGrpSpPr>
          <p:grpSpPr>
            <a:xfrm flipH="1" rot="5400000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329" name="Google Shape;329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3" name="Google Shape;333;p23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34" name="Google Shape;334;p23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335" name="Google Shape;335;p23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3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0" name="Google Shape;340;p23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341" name="Google Shape;341;p23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3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3" name="Google Shape;343;p23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344" name="Google Shape;344;p2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6" name="Google Shape;346;p23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47" name="Google Shape;347;p23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48" name="Google Shape;348;p23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49" name="Google Shape;349;p23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" name="Google Shape;350;p23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1" name="Google Shape;351;p23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2" name="Google Shape;352;p23"/>
              <p:cNvGrpSpPr/>
              <p:nvPr/>
            </p:nvGrpSpPr>
            <p:grpSpPr>
              <a:xfrm flipH="1" rot="5400000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53" name="Google Shape;353;p23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" name="Google Shape;354;p23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" name="Google Shape;355;p23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56" name="Google Shape;356;p23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57" name="Google Shape;357;p2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2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9" name="Google Shape;359;p23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60" name="Google Shape;360;p23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23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2" name="Google Shape;362;p23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25"/>
          <p:cNvSpPr txBox="1"/>
          <p:nvPr>
            <p:ph hasCustomPrompt="1"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67" name="Google Shape;367;p25"/>
          <p:cNvSpPr txBox="1"/>
          <p:nvPr>
            <p:ph hasCustomPrompt="1"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25"/>
          <p:cNvSpPr txBox="1"/>
          <p:nvPr>
            <p:ph hasCustomPrompt="1"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69" name="Google Shape;369;p25"/>
          <p:cNvSpPr txBox="1"/>
          <p:nvPr>
            <p:ph hasCustomPrompt="1"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70" name="Google Shape;370;p25"/>
          <p:cNvSpPr txBox="1"/>
          <p:nvPr>
            <p:ph hasCustomPrompt="1"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71" name="Google Shape;371;p25"/>
          <p:cNvSpPr txBox="1"/>
          <p:nvPr>
            <p:ph hasCustomPrompt="1"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72" name="Google Shape;372;p25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3" name="Google Shape;373;p25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4" name="Google Shape;374;p25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5" name="Google Shape;375;p25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6" name="Google Shape;376;p25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7" name="Google Shape;377;p25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378" name="Google Shape;378;p25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79" name="Google Shape;379;p25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80" name="Google Shape;380;p25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5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25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83" name="Google Shape;383;p25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5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" name="Google Shape;385;p25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86" name="Google Shape;386;p25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597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8" name="Google Shape;388;p25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89" name="Google Shape;389;p25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90" name="Google Shape;390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2" name="Google Shape;392;p25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93" name="Google Shape;393;p25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94" name="Google Shape;394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99" name="Google Shape;399;p25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400" name="Google Shape;400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5" name="Google Shape;405;p25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406" name="Google Shape;406;p25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5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2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26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412" name="Google Shape;412;p26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413" name="Google Shape;413;p26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5" name="Google Shape;415;p26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416" name="Google Shape;416;p2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8" name="Google Shape;418;p26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419" name="Google Shape;419;p26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26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422" name="Google Shape;422;p26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23" name="Google Shape;423;p26"/>
            <p:cNvGrpSpPr/>
            <p:nvPr/>
          </p:nvGrpSpPr>
          <p:grpSpPr>
            <a:xfrm flipH="1" rot="-5400000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424" name="Google Shape;424;p2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6" name="Google Shape;426;p26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27" name="Google Shape;427;p26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428" name="Google Shape;428;p2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33" name="Google Shape;433;p2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6" name="Google Shape;436;p27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37" name="Google Shape;437;p27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438" name="Google Shape;438;p27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27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" name="Google Shape;440;p27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7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442" name="Google Shape;442;p27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7" name="Google Shape;447;p28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8" name="Google Shape;448;p28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28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28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51" name="Google Shape;451;p28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52" name="Google Shape;452;p28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53" name="Google Shape;453;p28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54" name="Google Shape;454;p28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6" name="Google Shape;456;p28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57" name="Google Shape;457;p2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9" name="Google Shape;459;p28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60" name="Google Shape;460;p28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28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63" name="Google Shape;463;p28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64" name="Google Shape;464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" name="Google Shape;465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6" name="Google Shape;466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" name="Google Shape;468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9" name="Google Shape;469;p28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70" name="Google Shape;470;p28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71" name="Google Shape;471;p28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72" name="Google Shape;472;p28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8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74" name="Google Shape;474;p28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75" name="Google Shape;475;p2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78" name="Google Shape;478;p29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9" name="Google Shape;479;p29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0" name="Google Shape;480;p29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1" name="Google Shape;481;p29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2" name="Google Shape;482;p29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3" name="Google Shape;483;p29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4" name="Google Shape;484;p29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5" name="Google Shape;485;p29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486" name="Google Shape;486;p29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87" name="Google Shape;487;p29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9" name="Google Shape;489;p29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90" name="Google Shape;490;p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2" name="Google Shape;492;p29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93" name="Google Shape;493;p29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29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96" name="Google Shape;496;p29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97" name="Google Shape;497;p2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29"/>
            <p:cNvGrpSpPr/>
            <p:nvPr/>
          </p:nvGrpSpPr>
          <p:grpSpPr>
            <a:xfrm flipH="1" rot="10800000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500" name="Google Shape;500;p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1" name="Google Shape;501;p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" name="Google Shape;504;p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05" name="Google Shape;505;p29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6" name="Google Shape;506;p29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07" name="Google Shape;507;p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0" name="Google Shape;510;p30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1" name="Google Shape;511;p30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2" name="Google Shape;512;p30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3" name="Google Shape;513;p30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4" name="Google Shape;514;p30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5" name="Google Shape;515;p30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6" name="Google Shape;516;p30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7" name="Google Shape;517;p30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8" name="Google Shape;518;p30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9" name="Google Shape;519;p30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0" name="Google Shape;520;p30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1" name="Google Shape;521;p30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522" name="Google Shape;522;p30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523" name="Google Shape;523;p30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5" name="Google Shape;525;p30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526" name="Google Shape;526;p3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3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8" name="Google Shape;528;p30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529" name="Google Shape;529;p30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532" name="Google Shape;532;p30"/>
            <p:cNvGrpSpPr/>
            <p:nvPr/>
          </p:nvGrpSpPr>
          <p:grpSpPr>
            <a:xfrm flipH="1" rot="10800000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533" name="Google Shape;53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30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536" name="Google Shape;536;p3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3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3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3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0" name="Google Shape;540;p3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41" name="Google Shape;541;p30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42" name="Google Shape;542;p30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43" name="Google Shape;543;p3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"/>
          <p:cNvSpPr txBox="1"/>
          <p:nvPr>
            <p:ph hasCustomPrompt="1"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46" name="Google Shape;546;p31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7" name="Google Shape;547;p31"/>
          <p:cNvSpPr txBox="1"/>
          <p:nvPr>
            <p:ph hasCustomPrompt="1"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31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31"/>
          <p:cNvSpPr txBox="1"/>
          <p:nvPr>
            <p:ph hasCustomPrompt="1"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50" name="Google Shape;550;p31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1" name="Google Shape;551;p31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2" name="Google Shape;552;p31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53" name="Google Shape;553;p31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54" name="Google Shape;554;p31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31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6" name="Google Shape;556;p31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57" name="Google Shape;557;p3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9" name="Google Shape;559;p31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60" name="Google Shape;560;p31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61" name="Google Shape;561;p31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62" name="Google Shape;562;p31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3" name="Google Shape;563;p31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64" name="Google Shape;564;p31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65" name="Google Shape;565;p31"/>
              <p:cNvGrpSpPr/>
              <p:nvPr/>
            </p:nvGrpSpPr>
            <p:grpSpPr>
              <a:xfrm flipH="1" rot="5400000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66" name="Google Shape;566;p3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7" name="Google Shape;567;p3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68" name="Google Shape;568;p3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69" name="Google Shape;569;p31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70" name="Google Shape;570;p31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71" name="Google Shape;571;p3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3" name="Google Shape;573;p31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74" name="Google Shape;574;p3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5" name="Google Shape;575;p3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" name="Google Shape;576;p3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" name="Google Shape;577;p3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8" name="Google Shape;578;p3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" name="Google Shape;579;p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" name="Google Shape;580;p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1" name="Google Shape;581;p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2" name="Google Shape;582;p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3" name="Google Shape;583;p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86" name="Google Shape;586;p32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87" name="Google Shape;587;p32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2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32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90" name="Google Shape;590;p32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91" name="Google Shape;591;p32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3" name="Google Shape;593;p32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94" name="Google Shape;594;p32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2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6" name="Google Shape;596;p3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32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98" name="Google Shape;598;p32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99" name="Google Shape;599;p32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0" name="Google Shape;600;p32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601" name="Google Shape;601;p32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602" name="Google Shape;602;p32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3" name="Google Shape;603;p32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4" name="Google Shape;604;p32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5" name="Google Shape;605;p32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" name="Google Shape;606;p32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07" name="Google Shape;607;p32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608" name="Google Shape;608;p3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2" name="Google Shape;612;p33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613" name="Google Shape;613;p33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5" name="Google Shape;615;p33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616" name="Google Shape;616;p3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8" name="Google Shape;618;p33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619" name="Google Shape;619;p33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33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622" name="Google Shape;622;p33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23" name="Google Shape;623;p33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624" name="Google Shape;624;p33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625" name="Google Shape;625;p33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626" name="Google Shape;626;p33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7" name="Google Shape;627;p33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28" name="Google Shape;628;p33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grpSp>
            <p:nvGrpSpPr>
              <p:cNvPr id="629" name="Google Shape;629;p33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630" name="Google Shape;630;p33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1" name="Google Shape;631;p33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2" name="Google Shape;632;p33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3" name="Google Shape;633;p33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4" name="Google Shape;634;p33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635" name="Google Shape;635;p3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4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8" name="Google Shape;638;p34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9" name="Google Shape;639;p34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0" name="Google Shape;640;p34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34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642" name="Google Shape;642;p34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643" name="Google Shape;643;p34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4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5" name="Google Shape;645;p34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46" name="Google Shape;646;p3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3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50" name="Google Shape;650;p3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2" name="Google Shape;652;p3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53" name="Google Shape;653;p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55" name="Google Shape;655;p35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56" name="Google Shape;656;p3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57" name="Google Shape;657;p3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58" name="Google Shape;658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0" name="Google Shape;660;p3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61" name="Google Shape;661;p35"/>
            <p:cNvGrpSpPr/>
            <p:nvPr/>
          </p:nvGrpSpPr>
          <p:grpSpPr>
            <a:xfrm flipH="1" rot="-5400000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62" name="Google Shape;662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4" name="Google Shape;664;p35"/>
            <p:cNvGrpSpPr/>
            <p:nvPr/>
          </p:nvGrpSpPr>
          <p:grpSpPr>
            <a:xfrm flipH="1" rot="5400000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65" name="Google Shape;665;p3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6" name="Google Shape;666;p3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7" name="Google Shape;667;p3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3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9" name="Google Shape;669;p3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70" name="Google Shape;670;p3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71" name="Google Shape;671;p3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3" name="Google Shape;673;p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" name="Google Shape;675;p3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76" name="Google Shape;676;p3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3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79" name="Google Shape;679;p3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1" name="Google Shape;681;p36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82" name="Google Shape;682;p3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3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85" name="Google Shape;685;p3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86" name="Google Shape;686;p3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8" name="Google Shape;688;p36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89" name="Google Shape;689;p3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3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3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2" name="Google Shape;692;p3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3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94" name="Google Shape;694;p36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5" name="Google Shape;695;p36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96" name="Google Shape;696;p3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Relationship Id="rId2" Type="http://schemas.openxmlformats.org/officeDocument/2006/relationships/image" Target="../media/img_s3_0_architecture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/Relationships>
</file>

<file path=ppt/slides/_rels/slide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Relationship Id="rId2" Type="http://schemas.openxmlformats.org/officeDocument/2006/relationships/image" Target="../media/img_s8_0_test-results.png"/><Relationship Id="rId3" Type="http://schemas.openxmlformats.org/officeDocument/2006/relationships/image" Target="../media/img_s8_1_portal-dashboard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7"/>
          <p:cNvSpPr txBox="1"/>
          <p:nvPr>
            <p:ph type="ctrTitle"/>
          </p:nvPr>
        </p:nvSpPr>
        <p:spPr>
          <a:xfrm>
            <a:off x="1115975" y="1941900"/>
            <a:ext cx="4384800" cy="125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NovaWallet Ledger Service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7"/>
          <p:cNvSpPr txBox="1"/>
          <p:nvPr>
            <p:ph idx="1" type="subTitle"/>
          </p:nvPr>
        </p:nvSpPr>
        <p:spPr>
          <a:xfrm>
            <a:off x="1115975" y="3371175"/>
            <a:ext cx="43848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Case Study  ·  Backend Engineer Assessment  ·  .NET 9 / C#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7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4" name="Google Shape;704;p37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705" name="Google Shape;705;p37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706" name="Google Shape;706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" name="Google Shape;707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8" name="Google Shape;708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9" name="Google Shape;709;p37"/>
            <p:cNvSpPr/>
            <p:nvPr/>
          </p:nvSpPr>
          <p:spPr>
            <a:xfrm>
              <a:off x="7771212" y="2972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2" name="Google Shape;712;p37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713" name="Google Shape;713;p3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3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5" name="Google Shape;715;p3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37"/>
          <p:cNvSpPr/>
          <p:nvPr/>
        </p:nvSpPr>
        <p:spPr>
          <a:xfrm rot="-5400000">
            <a:off x="8215875" y="805548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7" name="Google Shape;717;p37"/>
          <p:cNvGrpSpPr/>
          <p:nvPr/>
        </p:nvGrpSpPr>
        <p:grpSpPr>
          <a:xfrm flipH="1" rot="10800000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718" name="Google Shape;718;p3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9" name="Google Shape;719;p3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20" name="Google Shape;720;p37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1" name="Google Shape;721;p37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722" name="Google Shape;722;p37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723" name="Google Shape;723;p3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3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3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3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3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33" name="Google Shape;733;p37"/>
            <p:cNvSpPr/>
            <p:nvPr/>
          </p:nvSpPr>
          <p:spPr>
            <a:xfrm>
              <a:off x="3329300" y="82325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734" name="Google Shape;734;p37" title="first-bank-nigeria-seek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75" y="475700"/>
            <a:ext cx="583275" cy="5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7"/>
          <p:cNvSpPr txBox="1"/>
          <p:nvPr/>
        </p:nvSpPr>
        <p:spPr>
          <a:xfrm>
            <a:off x="377270" y="4663450"/>
            <a:ext cx="166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September 2026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7"/>
          <p:cNvSpPr txBox="1"/>
          <p:nvPr>
            <p:ph idx="1" type="subTitle"/>
          </p:nvPr>
        </p:nvSpPr>
        <p:spPr>
          <a:xfrm>
            <a:off x="3669450" y="4572850"/>
            <a:ext cx="2061300" cy="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BABATUNDE OLADEJO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8"/>
          <p:cNvSpPr txBox="1"/>
          <p:nvPr>
            <p:ph idx="4" type="subTitle"/>
          </p:nvPr>
        </p:nvSpPr>
        <p:spPr>
          <a:xfrm>
            <a:off x="4883575" y="1604203"/>
            <a:ext cx="34677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HARD CONSTRAINTS (non-negotiable)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8"/>
          <p:cNvSpPr txBox="1"/>
          <p:nvPr>
            <p:ph idx="1" type="subTitle"/>
          </p:nvPr>
        </p:nvSpPr>
        <p:spPr>
          <a:xfrm>
            <a:off x="4883575" y="2000628"/>
            <a:ext cx="3467700" cy="22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All amounts stored as long in kobo — no float/double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Balance must NEVER go negative under concurrency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JWT bearer check on all business endpoints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RFC 7807 Problem Details on every error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Docker compose up — single command startup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Rate limiting · Outbox pattern · Correlation IDs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Health/readiness endpoints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8"/>
          <p:cNvSpPr txBox="1"/>
          <p:nvPr>
            <p:ph idx="2" type="subTitle"/>
          </p:nvPr>
        </p:nvSpPr>
        <p:spPr>
          <a:xfrm>
            <a:off x="1018833" y="2003125"/>
            <a:ext cx="3211200" cy="22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Create &amp; manage NGN wallets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Credit wallet — inbound NIP simulation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Atomic P2P transfer with concurrency safety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Idempotency — safe retries, no double-spend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Paginated statement &amp; audit trail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Daily outbound limit (₦500k, WAT midnight reset)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JWT bearer auth on every endpoint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Consistent RFC 7807 error responses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8"/>
          <p:cNvSpPr txBox="1"/>
          <p:nvPr>
            <p:ph idx="3" type="subTitle"/>
          </p:nvPr>
        </p:nvSpPr>
        <p:spPr>
          <a:xfrm>
            <a:off x="1018826" y="1606700"/>
            <a:ext cx="32112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WHAT WE ARE BUILDING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6" name="Google Shape;746;p38"/>
          <p:cNvGrpSpPr/>
          <p:nvPr/>
        </p:nvGrpSpPr>
        <p:grpSpPr>
          <a:xfrm>
            <a:off x="1119598" y="1302500"/>
            <a:ext cx="424408" cy="345200"/>
            <a:chOff x="3250013" y="1564575"/>
            <a:chExt cx="345075" cy="345200"/>
          </a:xfrm>
        </p:grpSpPr>
        <p:sp>
          <p:nvSpPr>
            <p:cNvPr id="747" name="Google Shape;747;p38"/>
            <p:cNvSpPr/>
            <p:nvPr/>
          </p:nvSpPr>
          <p:spPr>
            <a:xfrm>
              <a:off x="3372113" y="1604900"/>
              <a:ext cx="101150" cy="101150"/>
            </a:xfrm>
            <a:custGeom>
              <a:rect b="b" l="l" r="r" t="t"/>
              <a:pathLst>
                <a:path extrusionOk="0" h="4046" w="4046">
                  <a:moveTo>
                    <a:pt x="2023" y="819"/>
                  </a:moveTo>
                  <a:cubicBezTo>
                    <a:pt x="2691" y="819"/>
                    <a:pt x="3238" y="1355"/>
                    <a:pt x="3238" y="2023"/>
                  </a:cubicBezTo>
                  <a:cubicBezTo>
                    <a:pt x="3238" y="2699"/>
                    <a:pt x="2691" y="3238"/>
                    <a:pt x="2023" y="3238"/>
                  </a:cubicBezTo>
                  <a:cubicBezTo>
                    <a:pt x="1358" y="3238"/>
                    <a:pt x="808" y="2699"/>
                    <a:pt x="808" y="2023"/>
                  </a:cubicBezTo>
                  <a:cubicBezTo>
                    <a:pt x="808" y="1355"/>
                    <a:pt x="1358" y="819"/>
                    <a:pt x="2023" y="819"/>
                  </a:cubicBezTo>
                  <a:close/>
                  <a:moveTo>
                    <a:pt x="2023" y="0"/>
                  </a:moveTo>
                  <a:cubicBezTo>
                    <a:pt x="901" y="0"/>
                    <a:pt x="0" y="912"/>
                    <a:pt x="0" y="2023"/>
                  </a:cubicBezTo>
                  <a:cubicBezTo>
                    <a:pt x="0" y="3145"/>
                    <a:pt x="901" y="4046"/>
                    <a:pt x="2023" y="4046"/>
                  </a:cubicBezTo>
                  <a:cubicBezTo>
                    <a:pt x="3134" y="4046"/>
                    <a:pt x="4046" y="3145"/>
                    <a:pt x="4046" y="2023"/>
                  </a:cubicBezTo>
                  <a:cubicBezTo>
                    <a:pt x="4046" y="912"/>
                    <a:pt x="3134" y="0"/>
                    <a:pt x="2023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>
              <a:off x="3412438" y="1645500"/>
              <a:ext cx="20225" cy="20225"/>
            </a:xfrm>
            <a:custGeom>
              <a:rect b="b" l="l" r="r" t="t"/>
              <a:pathLst>
                <a:path extrusionOk="0" h="809" w="809">
                  <a:moveTo>
                    <a:pt x="410" y="1"/>
                  </a:moveTo>
                  <a:cubicBezTo>
                    <a:pt x="188" y="1"/>
                    <a:pt x="0" y="177"/>
                    <a:pt x="0" y="399"/>
                  </a:cubicBezTo>
                  <a:cubicBezTo>
                    <a:pt x="0" y="621"/>
                    <a:pt x="188" y="808"/>
                    <a:pt x="410" y="808"/>
                  </a:cubicBezTo>
                  <a:cubicBezTo>
                    <a:pt x="632" y="808"/>
                    <a:pt x="808" y="621"/>
                    <a:pt x="808" y="399"/>
                  </a:cubicBezTo>
                  <a:cubicBezTo>
                    <a:pt x="808" y="177"/>
                    <a:pt x="632" y="1"/>
                    <a:pt x="410" y="1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749" name="Google Shape;749;p38"/>
            <p:cNvSpPr/>
            <p:nvPr/>
          </p:nvSpPr>
          <p:spPr>
            <a:xfrm>
              <a:off x="3250013" y="1564575"/>
              <a:ext cx="345075" cy="345200"/>
            </a:xfrm>
            <a:custGeom>
              <a:rect b="b" l="l" r="r" t="t"/>
              <a:pathLst>
                <a:path extrusionOk="0" h="13808" w="13803">
                  <a:moveTo>
                    <a:pt x="7446" y="805"/>
                  </a:moveTo>
                  <a:cubicBezTo>
                    <a:pt x="8708" y="805"/>
                    <a:pt x="9735" y="1835"/>
                    <a:pt x="9735" y="3097"/>
                  </a:cubicBezTo>
                  <a:lnTo>
                    <a:pt x="9735" y="6475"/>
                  </a:lnTo>
                  <a:lnTo>
                    <a:pt x="4079" y="6475"/>
                  </a:lnTo>
                  <a:lnTo>
                    <a:pt x="4079" y="3097"/>
                  </a:lnTo>
                  <a:cubicBezTo>
                    <a:pt x="4079" y="1835"/>
                    <a:pt x="5095" y="805"/>
                    <a:pt x="6368" y="805"/>
                  </a:cubicBezTo>
                  <a:close/>
                  <a:moveTo>
                    <a:pt x="10543" y="7283"/>
                  </a:moveTo>
                  <a:lnTo>
                    <a:pt x="10543" y="8088"/>
                  </a:lnTo>
                  <a:lnTo>
                    <a:pt x="3260" y="8088"/>
                  </a:lnTo>
                  <a:lnTo>
                    <a:pt x="3260" y="7283"/>
                  </a:lnTo>
                  <a:close/>
                  <a:moveTo>
                    <a:pt x="9735" y="8896"/>
                  </a:moveTo>
                  <a:lnTo>
                    <a:pt x="9735" y="9701"/>
                  </a:lnTo>
                  <a:lnTo>
                    <a:pt x="4079" y="9701"/>
                  </a:lnTo>
                  <a:lnTo>
                    <a:pt x="4079" y="8896"/>
                  </a:lnTo>
                  <a:close/>
                  <a:moveTo>
                    <a:pt x="3400" y="12192"/>
                  </a:moveTo>
                  <a:cubicBezTo>
                    <a:pt x="3622" y="12192"/>
                    <a:pt x="3810" y="12366"/>
                    <a:pt x="3810" y="12588"/>
                  </a:cubicBezTo>
                  <a:cubicBezTo>
                    <a:pt x="3810" y="12812"/>
                    <a:pt x="3622" y="12997"/>
                    <a:pt x="3400" y="12997"/>
                  </a:cubicBezTo>
                  <a:cubicBezTo>
                    <a:pt x="3179" y="12997"/>
                    <a:pt x="2991" y="12812"/>
                    <a:pt x="2991" y="12588"/>
                  </a:cubicBezTo>
                  <a:cubicBezTo>
                    <a:pt x="2991" y="12366"/>
                    <a:pt x="3179" y="12192"/>
                    <a:pt x="3400" y="12192"/>
                  </a:cubicBezTo>
                  <a:close/>
                  <a:moveTo>
                    <a:pt x="6907" y="12192"/>
                  </a:moveTo>
                  <a:cubicBezTo>
                    <a:pt x="7129" y="12192"/>
                    <a:pt x="7305" y="12366"/>
                    <a:pt x="7305" y="12588"/>
                  </a:cubicBezTo>
                  <a:cubicBezTo>
                    <a:pt x="7305" y="12812"/>
                    <a:pt x="7129" y="12997"/>
                    <a:pt x="6907" y="12997"/>
                  </a:cubicBezTo>
                  <a:cubicBezTo>
                    <a:pt x="6685" y="12997"/>
                    <a:pt x="6497" y="12812"/>
                    <a:pt x="6497" y="12588"/>
                  </a:cubicBezTo>
                  <a:cubicBezTo>
                    <a:pt x="6497" y="12366"/>
                    <a:pt x="6685" y="12192"/>
                    <a:pt x="6907" y="12192"/>
                  </a:cubicBezTo>
                  <a:close/>
                  <a:moveTo>
                    <a:pt x="10414" y="12192"/>
                  </a:moveTo>
                  <a:cubicBezTo>
                    <a:pt x="10635" y="12192"/>
                    <a:pt x="10812" y="12366"/>
                    <a:pt x="10812" y="12588"/>
                  </a:cubicBezTo>
                  <a:cubicBezTo>
                    <a:pt x="10812" y="12812"/>
                    <a:pt x="10635" y="12997"/>
                    <a:pt x="10414" y="12997"/>
                  </a:cubicBezTo>
                  <a:cubicBezTo>
                    <a:pt x="10192" y="12997"/>
                    <a:pt x="10004" y="12812"/>
                    <a:pt x="10004" y="12588"/>
                  </a:cubicBezTo>
                  <a:cubicBezTo>
                    <a:pt x="10004" y="12366"/>
                    <a:pt x="10192" y="12192"/>
                    <a:pt x="10414" y="12192"/>
                  </a:cubicBezTo>
                  <a:close/>
                  <a:moveTo>
                    <a:pt x="6368" y="0"/>
                  </a:moveTo>
                  <a:cubicBezTo>
                    <a:pt x="4652" y="0"/>
                    <a:pt x="3260" y="1392"/>
                    <a:pt x="3260" y="3097"/>
                  </a:cubicBezTo>
                  <a:lnTo>
                    <a:pt x="3260" y="6475"/>
                  </a:lnTo>
                  <a:lnTo>
                    <a:pt x="2862" y="6475"/>
                  </a:lnTo>
                  <a:cubicBezTo>
                    <a:pt x="2640" y="6475"/>
                    <a:pt x="2455" y="6652"/>
                    <a:pt x="2455" y="6873"/>
                  </a:cubicBezTo>
                  <a:lnTo>
                    <a:pt x="2455" y="7283"/>
                  </a:lnTo>
                  <a:lnTo>
                    <a:pt x="2020" y="7283"/>
                  </a:lnTo>
                  <a:cubicBezTo>
                    <a:pt x="1798" y="7283"/>
                    <a:pt x="1625" y="7095"/>
                    <a:pt x="1625" y="6873"/>
                  </a:cubicBezTo>
                  <a:lnTo>
                    <a:pt x="1625" y="4511"/>
                  </a:lnTo>
                  <a:cubicBezTo>
                    <a:pt x="2090" y="4348"/>
                    <a:pt x="2430" y="3905"/>
                    <a:pt x="2430" y="3367"/>
                  </a:cubicBezTo>
                  <a:lnTo>
                    <a:pt x="2430" y="3109"/>
                  </a:lnTo>
                  <a:cubicBezTo>
                    <a:pt x="2430" y="2898"/>
                    <a:pt x="2278" y="2724"/>
                    <a:pt x="2068" y="2699"/>
                  </a:cubicBezTo>
                  <a:cubicBezTo>
                    <a:pt x="2054" y="2698"/>
                    <a:pt x="2041" y="2697"/>
                    <a:pt x="2028" y="2697"/>
                  </a:cubicBezTo>
                  <a:cubicBezTo>
                    <a:pt x="1803" y="2697"/>
                    <a:pt x="1625" y="2877"/>
                    <a:pt x="1625" y="3097"/>
                  </a:cubicBezTo>
                  <a:lnTo>
                    <a:pt x="1625" y="3355"/>
                  </a:lnTo>
                  <a:cubicBezTo>
                    <a:pt x="1625" y="3566"/>
                    <a:pt x="1473" y="3751"/>
                    <a:pt x="1263" y="3776"/>
                  </a:cubicBezTo>
                  <a:cubicBezTo>
                    <a:pt x="1249" y="3777"/>
                    <a:pt x="1236" y="3778"/>
                    <a:pt x="1223" y="3778"/>
                  </a:cubicBezTo>
                  <a:cubicBezTo>
                    <a:pt x="995" y="3778"/>
                    <a:pt x="817" y="3597"/>
                    <a:pt x="817" y="3367"/>
                  </a:cubicBezTo>
                  <a:lnTo>
                    <a:pt x="817" y="3109"/>
                  </a:lnTo>
                  <a:cubicBezTo>
                    <a:pt x="817" y="2898"/>
                    <a:pt x="665" y="2724"/>
                    <a:pt x="455" y="2699"/>
                  </a:cubicBezTo>
                  <a:cubicBezTo>
                    <a:pt x="441" y="2698"/>
                    <a:pt x="428" y="2697"/>
                    <a:pt x="415" y="2697"/>
                  </a:cubicBezTo>
                  <a:cubicBezTo>
                    <a:pt x="188" y="2697"/>
                    <a:pt x="0" y="2877"/>
                    <a:pt x="0" y="3097"/>
                  </a:cubicBezTo>
                  <a:lnTo>
                    <a:pt x="0" y="3367"/>
                  </a:lnTo>
                  <a:cubicBezTo>
                    <a:pt x="0" y="3891"/>
                    <a:pt x="337" y="4348"/>
                    <a:pt x="817" y="4511"/>
                  </a:cubicBezTo>
                  <a:lnTo>
                    <a:pt x="817" y="6873"/>
                  </a:lnTo>
                  <a:cubicBezTo>
                    <a:pt x="817" y="7552"/>
                    <a:pt x="1355" y="8088"/>
                    <a:pt x="2020" y="8088"/>
                  </a:cubicBezTo>
                  <a:lnTo>
                    <a:pt x="2455" y="8088"/>
                  </a:lnTo>
                  <a:lnTo>
                    <a:pt x="2455" y="8498"/>
                  </a:lnTo>
                  <a:cubicBezTo>
                    <a:pt x="2455" y="8719"/>
                    <a:pt x="2640" y="8896"/>
                    <a:pt x="2862" y="8896"/>
                  </a:cubicBezTo>
                  <a:lnTo>
                    <a:pt x="3260" y="8896"/>
                  </a:lnTo>
                  <a:lnTo>
                    <a:pt x="3260" y="10111"/>
                  </a:lnTo>
                  <a:cubicBezTo>
                    <a:pt x="3260" y="10332"/>
                    <a:pt x="3448" y="10520"/>
                    <a:pt x="3670" y="10520"/>
                  </a:cubicBezTo>
                  <a:lnTo>
                    <a:pt x="4068" y="10520"/>
                  </a:lnTo>
                  <a:lnTo>
                    <a:pt x="3600" y="11395"/>
                  </a:lnTo>
                  <a:cubicBezTo>
                    <a:pt x="3529" y="11384"/>
                    <a:pt x="3470" y="11373"/>
                    <a:pt x="3400" y="11373"/>
                  </a:cubicBezTo>
                  <a:cubicBezTo>
                    <a:pt x="2699" y="11373"/>
                    <a:pt x="2138" y="11970"/>
                    <a:pt x="2186" y="12683"/>
                  </a:cubicBezTo>
                  <a:cubicBezTo>
                    <a:pt x="2231" y="13278"/>
                    <a:pt x="2710" y="13757"/>
                    <a:pt x="3308" y="13805"/>
                  </a:cubicBezTo>
                  <a:cubicBezTo>
                    <a:pt x="3335" y="13807"/>
                    <a:pt x="3361" y="13808"/>
                    <a:pt x="3388" y="13808"/>
                  </a:cubicBezTo>
                  <a:cubicBezTo>
                    <a:pt x="4064" y="13808"/>
                    <a:pt x="4615" y="13263"/>
                    <a:pt x="4615" y="12588"/>
                  </a:cubicBezTo>
                  <a:cubicBezTo>
                    <a:pt x="4615" y="12285"/>
                    <a:pt x="4500" y="12004"/>
                    <a:pt x="4301" y="11783"/>
                  </a:cubicBezTo>
                  <a:lnTo>
                    <a:pt x="4991" y="10520"/>
                  </a:lnTo>
                  <a:lnTo>
                    <a:pt x="6497" y="10520"/>
                  </a:lnTo>
                  <a:lnTo>
                    <a:pt x="6497" y="11443"/>
                  </a:lnTo>
                  <a:cubicBezTo>
                    <a:pt x="6006" y="11620"/>
                    <a:pt x="5667" y="12111"/>
                    <a:pt x="5692" y="12658"/>
                  </a:cubicBezTo>
                  <a:cubicBezTo>
                    <a:pt x="5726" y="13278"/>
                    <a:pt x="6242" y="13780"/>
                    <a:pt x="6859" y="13805"/>
                  </a:cubicBezTo>
                  <a:cubicBezTo>
                    <a:pt x="6873" y="13806"/>
                    <a:pt x="6887" y="13806"/>
                    <a:pt x="6900" y="13806"/>
                  </a:cubicBezTo>
                  <a:cubicBezTo>
                    <a:pt x="7572" y="13806"/>
                    <a:pt x="8122" y="13264"/>
                    <a:pt x="8122" y="12588"/>
                  </a:cubicBezTo>
                  <a:cubicBezTo>
                    <a:pt x="8122" y="12063"/>
                    <a:pt x="7785" y="11620"/>
                    <a:pt x="7305" y="11443"/>
                  </a:cubicBezTo>
                  <a:lnTo>
                    <a:pt x="7305" y="10520"/>
                  </a:lnTo>
                  <a:lnTo>
                    <a:pt x="8823" y="10520"/>
                  </a:lnTo>
                  <a:lnTo>
                    <a:pt x="9502" y="11783"/>
                  </a:lnTo>
                  <a:cubicBezTo>
                    <a:pt x="9292" y="12027"/>
                    <a:pt x="9174" y="12344"/>
                    <a:pt x="9199" y="12683"/>
                  </a:cubicBezTo>
                  <a:cubicBezTo>
                    <a:pt x="9244" y="13278"/>
                    <a:pt x="9724" y="13757"/>
                    <a:pt x="10321" y="13805"/>
                  </a:cubicBezTo>
                  <a:cubicBezTo>
                    <a:pt x="10348" y="13807"/>
                    <a:pt x="10374" y="13808"/>
                    <a:pt x="10401" y="13808"/>
                  </a:cubicBezTo>
                  <a:cubicBezTo>
                    <a:pt x="11077" y="13808"/>
                    <a:pt x="11617" y="13263"/>
                    <a:pt x="11617" y="12588"/>
                  </a:cubicBezTo>
                  <a:cubicBezTo>
                    <a:pt x="11617" y="11923"/>
                    <a:pt x="11081" y="11373"/>
                    <a:pt x="10414" y="11373"/>
                  </a:cubicBezTo>
                  <a:cubicBezTo>
                    <a:pt x="10343" y="11373"/>
                    <a:pt x="10273" y="11384"/>
                    <a:pt x="10214" y="11395"/>
                  </a:cubicBezTo>
                  <a:lnTo>
                    <a:pt x="9735" y="10520"/>
                  </a:lnTo>
                  <a:lnTo>
                    <a:pt x="10144" y="10520"/>
                  </a:lnTo>
                  <a:cubicBezTo>
                    <a:pt x="10366" y="10520"/>
                    <a:pt x="10543" y="10332"/>
                    <a:pt x="10543" y="10111"/>
                  </a:cubicBezTo>
                  <a:lnTo>
                    <a:pt x="10543" y="8896"/>
                  </a:lnTo>
                  <a:lnTo>
                    <a:pt x="10952" y="8896"/>
                  </a:lnTo>
                  <a:cubicBezTo>
                    <a:pt x="11174" y="8896"/>
                    <a:pt x="11348" y="8719"/>
                    <a:pt x="11348" y="8498"/>
                  </a:cubicBezTo>
                  <a:lnTo>
                    <a:pt x="11348" y="8088"/>
                  </a:lnTo>
                  <a:lnTo>
                    <a:pt x="11783" y="8088"/>
                  </a:lnTo>
                  <a:cubicBezTo>
                    <a:pt x="12459" y="8088"/>
                    <a:pt x="12997" y="7552"/>
                    <a:pt x="12997" y="6873"/>
                  </a:cubicBezTo>
                  <a:lnTo>
                    <a:pt x="12997" y="4511"/>
                  </a:lnTo>
                  <a:cubicBezTo>
                    <a:pt x="13466" y="4348"/>
                    <a:pt x="13802" y="3905"/>
                    <a:pt x="13802" y="3367"/>
                  </a:cubicBezTo>
                  <a:lnTo>
                    <a:pt x="13802" y="3097"/>
                  </a:lnTo>
                  <a:cubicBezTo>
                    <a:pt x="13802" y="2876"/>
                    <a:pt x="13629" y="2699"/>
                    <a:pt x="13407" y="2699"/>
                  </a:cubicBezTo>
                  <a:cubicBezTo>
                    <a:pt x="13185" y="2699"/>
                    <a:pt x="12997" y="2876"/>
                    <a:pt x="12997" y="3097"/>
                  </a:cubicBezTo>
                  <a:lnTo>
                    <a:pt x="12997" y="3355"/>
                  </a:lnTo>
                  <a:cubicBezTo>
                    <a:pt x="12997" y="3566"/>
                    <a:pt x="12846" y="3751"/>
                    <a:pt x="12647" y="3776"/>
                  </a:cubicBezTo>
                  <a:cubicBezTo>
                    <a:pt x="12633" y="3777"/>
                    <a:pt x="12620" y="3778"/>
                    <a:pt x="12607" y="3778"/>
                  </a:cubicBezTo>
                  <a:cubicBezTo>
                    <a:pt x="12378" y="3778"/>
                    <a:pt x="12189" y="3597"/>
                    <a:pt x="12189" y="3367"/>
                  </a:cubicBezTo>
                  <a:lnTo>
                    <a:pt x="12189" y="3109"/>
                  </a:lnTo>
                  <a:cubicBezTo>
                    <a:pt x="12189" y="2898"/>
                    <a:pt x="12038" y="2724"/>
                    <a:pt x="11828" y="2699"/>
                  </a:cubicBezTo>
                  <a:cubicBezTo>
                    <a:pt x="11814" y="2698"/>
                    <a:pt x="11801" y="2697"/>
                    <a:pt x="11788" y="2697"/>
                  </a:cubicBezTo>
                  <a:cubicBezTo>
                    <a:pt x="11562" y="2697"/>
                    <a:pt x="11384" y="2877"/>
                    <a:pt x="11384" y="3097"/>
                  </a:cubicBezTo>
                  <a:lnTo>
                    <a:pt x="11384" y="3367"/>
                  </a:lnTo>
                  <a:cubicBezTo>
                    <a:pt x="11384" y="3891"/>
                    <a:pt x="11724" y="4348"/>
                    <a:pt x="12189" y="4511"/>
                  </a:cubicBezTo>
                  <a:lnTo>
                    <a:pt x="12189" y="6873"/>
                  </a:lnTo>
                  <a:cubicBezTo>
                    <a:pt x="12189" y="7095"/>
                    <a:pt x="12004" y="7283"/>
                    <a:pt x="11783" y="7283"/>
                  </a:cubicBezTo>
                  <a:lnTo>
                    <a:pt x="11348" y="7283"/>
                  </a:lnTo>
                  <a:lnTo>
                    <a:pt x="11348" y="6873"/>
                  </a:lnTo>
                  <a:cubicBezTo>
                    <a:pt x="11348" y="6652"/>
                    <a:pt x="11174" y="6475"/>
                    <a:pt x="10952" y="6475"/>
                  </a:cubicBezTo>
                  <a:lnTo>
                    <a:pt x="10543" y="6475"/>
                  </a:lnTo>
                  <a:lnTo>
                    <a:pt x="10543" y="3097"/>
                  </a:lnTo>
                  <a:cubicBezTo>
                    <a:pt x="10543" y="1392"/>
                    <a:pt x="9151" y="0"/>
                    <a:pt x="7446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</p:grpSp>
      <p:grpSp>
        <p:nvGrpSpPr>
          <p:cNvPr id="750" name="Google Shape;750;p38"/>
          <p:cNvGrpSpPr/>
          <p:nvPr/>
        </p:nvGrpSpPr>
        <p:grpSpPr>
          <a:xfrm>
            <a:off x="4883563" y="1259003"/>
            <a:ext cx="355675" cy="345200"/>
            <a:chOff x="7790488" y="3243925"/>
            <a:chExt cx="355675" cy="345200"/>
          </a:xfrm>
        </p:grpSpPr>
        <p:sp>
          <p:nvSpPr>
            <p:cNvPr id="751" name="Google Shape;751;p38"/>
            <p:cNvSpPr/>
            <p:nvPr/>
          </p:nvSpPr>
          <p:spPr>
            <a:xfrm>
              <a:off x="7790488" y="3243925"/>
              <a:ext cx="355675" cy="345150"/>
            </a:xfrm>
            <a:custGeom>
              <a:rect b="b" l="l" r="r" t="t"/>
              <a:pathLst>
                <a:path extrusionOk="0" h="13806" w="14227">
                  <a:moveTo>
                    <a:pt x="5469" y="814"/>
                  </a:moveTo>
                  <a:cubicBezTo>
                    <a:pt x="6060" y="814"/>
                    <a:pt x="6654" y="1041"/>
                    <a:pt x="7109" y="1486"/>
                  </a:cubicBezTo>
                  <a:lnTo>
                    <a:pt x="8534" y="2911"/>
                  </a:lnTo>
                  <a:lnTo>
                    <a:pt x="7962" y="3484"/>
                  </a:lnTo>
                  <a:lnTo>
                    <a:pt x="6464" y="1988"/>
                  </a:lnTo>
                  <a:cubicBezTo>
                    <a:pt x="5962" y="1497"/>
                    <a:pt x="5367" y="1135"/>
                    <a:pt x="4699" y="948"/>
                  </a:cubicBezTo>
                  <a:cubicBezTo>
                    <a:pt x="4947" y="858"/>
                    <a:pt x="5208" y="814"/>
                    <a:pt x="5469" y="814"/>
                  </a:cubicBezTo>
                  <a:close/>
                  <a:moveTo>
                    <a:pt x="9480" y="3110"/>
                  </a:moveTo>
                  <a:lnTo>
                    <a:pt x="10826" y="4443"/>
                  </a:lnTo>
                  <a:lnTo>
                    <a:pt x="9480" y="5775"/>
                  </a:lnTo>
                  <a:lnTo>
                    <a:pt x="8147" y="4443"/>
                  </a:lnTo>
                  <a:lnTo>
                    <a:pt x="9480" y="3110"/>
                  </a:lnTo>
                  <a:close/>
                  <a:moveTo>
                    <a:pt x="11011" y="5391"/>
                  </a:moveTo>
                  <a:lnTo>
                    <a:pt x="12439" y="6827"/>
                  </a:lnTo>
                  <a:cubicBezTo>
                    <a:pt x="13093" y="7470"/>
                    <a:pt x="13267" y="8418"/>
                    <a:pt x="12975" y="9223"/>
                  </a:cubicBezTo>
                  <a:cubicBezTo>
                    <a:pt x="12790" y="8570"/>
                    <a:pt x="12439" y="7961"/>
                    <a:pt x="11934" y="7459"/>
                  </a:cubicBezTo>
                  <a:lnTo>
                    <a:pt x="10439" y="5963"/>
                  </a:lnTo>
                  <a:lnTo>
                    <a:pt x="11011" y="5391"/>
                  </a:lnTo>
                  <a:close/>
                  <a:moveTo>
                    <a:pt x="7962" y="5391"/>
                  </a:moveTo>
                  <a:lnTo>
                    <a:pt x="8534" y="5963"/>
                  </a:lnTo>
                  <a:lnTo>
                    <a:pt x="3614" y="10884"/>
                  </a:lnTo>
                  <a:lnTo>
                    <a:pt x="3042" y="10312"/>
                  </a:lnTo>
                  <a:lnTo>
                    <a:pt x="7962" y="5391"/>
                  </a:lnTo>
                  <a:close/>
                  <a:moveTo>
                    <a:pt x="2466" y="10884"/>
                  </a:moveTo>
                  <a:lnTo>
                    <a:pt x="3042" y="11456"/>
                  </a:lnTo>
                  <a:lnTo>
                    <a:pt x="1614" y="12881"/>
                  </a:lnTo>
                  <a:cubicBezTo>
                    <a:pt x="1538" y="12964"/>
                    <a:pt x="1436" y="13005"/>
                    <a:pt x="1332" y="13005"/>
                  </a:cubicBezTo>
                  <a:cubicBezTo>
                    <a:pt x="1228" y="13005"/>
                    <a:pt x="1123" y="12964"/>
                    <a:pt x="1041" y="12881"/>
                  </a:cubicBezTo>
                  <a:cubicBezTo>
                    <a:pt x="890" y="12730"/>
                    <a:pt x="890" y="12475"/>
                    <a:pt x="1041" y="12309"/>
                  </a:cubicBezTo>
                  <a:lnTo>
                    <a:pt x="2466" y="10884"/>
                  </a:lnTo>
                  <a:close/>
                  <a:moveTo>
                    <a:pt x="5481" y="1"/>
                  </a:moveTo>
                  <a:cubicBezTo>
                    <a:pt x="4688" y="1"/>
                    <a:pt x="3893" y="305"/>
                    <a:pt x="3286" y="914"/>
                  </a:cubicBezTo>
                  <a:cubicBezTo>
                    <a:pt x="3042" y="1169"/>
                    <a:pt x="3215" y="1604"/>
                    <a:pt x="3577" y="1604"/>
                  </a:cubicBezTo>
                  <a:cubicBezTo>
                    <a:pt x="4455" y="1604"/>
                    <a:pt x="5272" y="1941"/>
                    <a:pt x="5892" y="2561"/>
                  </a:cubicBezTo>
                  <a:lnTo>
                    <a:pt x="7390" y="4059"/>
                  </a:lnTo>
                  <a:lnTo>
                    <a:pt x="7294" y="4151"/>
                  </a:lnTo>
                  <a:cubicBezTo>
                    <a:pt x="7132" y="4314"/>
                    <a:pt x="7132" y="4572"/>
                    <a:pt x="7294" y="4723"/>
                  </a:cubicBezTo>
                  <a:lnTo>
                    <a:pt x="7390" y="4816"/>
                  </a:lnTo>
                  <a:lnTo>
                    <a:pt x="469" y="11737"/>
                  </a:lnTo>
                  <a:cubicBezTo>
                    <a:pt x="1" y="12216"/>
                    <a:pt x="1" y="12977"/>
                    <a:pt x="469" y="13456"/>
                  </a:cubicBezTo>
                  <a:cubicBezTo>
                    <a:pt x="709" y="13689"/>
                    <a:pt x="1022" y="13806"/>
                    <a:pt x="1333" y="13806"/>
                  </a:cubicBezTo>
                  <a:cubicBezTo>
                    <a:pt x="1644" y="13806"/>
                    <a:pt x="1953" y="13689"/>
                    <a:pt x="2186" y="13456"/>
                  </a:cubicBezTo>
                  <a:lnTo>
                    <a:pt x="9107" y="6536"/>
                  </a:lnTo>
                  <a:lnTo>
                    <a:pt x="9199" y="6628"/>
                  </a:lnTo>
                  <a:cubicBezTo>
                    <a:pt x="9276" y="6711"/>
                    <a:pt x="9379" y="6752"/>
                    <a:pt x="9483" y="6752"/>
                  </a:cubicBezTo>
                  <a:cubicBezTo>
                    <a:pt x="9586" y="6752"/>
                    <a:pt x="9692" y="6711"/>
                    <a:pt x="9774" y="6628"/>
                  </a:cubicBezTo>
                  <a:lnTo>
                    <a:pt x="9867" y="6536"/>
                  </a:lnTo>
                  <a:lnTo>
                    <a:pt x="11362" y="8031"/>
                  </a:lnTo>
                  <a:cubicBezTo>
                    <a:pt x="11982" y="8651"/>
                    <a:pt x="12322" y="9470"/>
                    <a:pt x="12322" y="10345"/>
                  </a:cubicBezTo>
                  <a:cubicBezTo>
                    <a:pt x="12322" y="10591"/>
                    <a:pt x="12521" y="10757"/>
                    <a:pt x="12730" y="10757"/>
                  </a:cubicBezTo>
                  <a:cubicBezTo>
                    <a:pt x="12828" y="10757"/>
                    <a:pt x="12929" y="10720"/>
                    <a:pt x="13012" y="10637"/>
                  </a:cubicBezTo>
                  <a:cubicBezTo>
                    <a:pt x="14226" y="9422"/>
                    <a:pt x="14226" y="7459"/>
                    <a:pt x="13012" y="6255"/>
                  </a:cubicBezTo>
                  <a:lnTo>
                    <a:pt x="11584" y="4816"/>
                  </a:lnTo>
                  <a:lnTo>
                    <a:pt x="11679" y="4723"/>
                  </a:lnTo>
                  <a:cubicBezTo>
                    <a:pt x="11831" y="4572"/>
                    <a:pt x="11831" y="4314"/>
                    <a:pt x="11679" y="4151"/>
                  </a:cubicBezTo>
                  <a:lnTo>
                    <a:pt x="9774" y="2246"/>
                  </a:lnTo>
                  <a:cubicBezTo>
                    <a:pt x="9692" y="2171"/>
                    <a:pt x="9586" y="2133"/>
                    <a:pt x="9483" y="2133"/>
                  </a:cubicBezTo>
                  <a:cubicBezTo>
                    <a:pt x="9379" y="2133"/>
                    <a:pt x="9276" y="2171"/>
                    <a:pt x="9199" y="2246"/>
                  </a:cubicBezTo>
                  <a:lnTo>
                    <a:pt x="9107" y="2339"/>
                  </a:lnTo>
                  <a:lnTo>
                    <a:pt x="7670" y="914"/>
                  </a:lnTo>
                  <a:cubicBezTo>
                    <a:pt x="7067" y="305"/>
                    <a:pt x="6275" y="1"/>
                    <a:pt x="5481" y="1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752" name="Google Shape;752;p38"/>
            <p:cNvSpPr/>
            <p:nvPr/>
          </p:nvSpPr>
          <p:spPr>
            <a:xfrm>
              <a:off x="7934888" y="3487950"/>
              <a:ext cx="155175" cy="101175"/>
            </a:xfrm>
            <a:custGeom>
              <a:rect b="b" l="l" r="r" t="t"/>
              <a:pathLst>
                <a:path extrusionOk="0" h="4047" w="6207">
                  <a:moveTo>
                    <a:pt x="2021" y="820"/>
                  </a:moveTo>
                  <a:cubicBezTo>
                    <a:pt x="2688" y="820"/>
                    <a:pt x="3238" y="1356"/>
                    <a:pt x="3238" y="2023"/>
                  </a:cubicBezTo>
                  <a:cubicBezTo>
                    <a:pt x="3238" y="2700"/>
                    <a:pt x="2688" y="3238"/>
                    <a:pt x="2021" y="3238"/>
                  </a:cubicBezTo>
                  <a:cubicBezTo>
                    <a:pt x="1356" y="3238"/>
                    <a:pt x="806" y="2700"/>
                    <a:pt x="806" y="2023"/>
                  </a:cubicBezTo>
                  <a:cubicBezTo>
                    <a:pt x="806" y="1356"/>
                    <a:pt x="1356" y="820"/>
                    <a:pt x="2021" y="820"/>
                  </a:cubicBezTo>
                  <a:close/>
                  <a:moveTo>
                    <a:pt x="4183" y="820"/>
                  </a:moveTo>
                  <a:cubicBezTo>
                    <a:pt x="4851" y="820"/>
                    <a:pt x="5401" y="1356"/>
                    <a:pt x="5401" y="2023"/>
                  </a:cubicBezTo>
                  <a:cubicBezTo>
                    <a:pt x="5401" y="2700"/>
                    <a:pt x="4851" y="3238"/>
                    <a:pt x="4183" y="3238"/>
                  </a:cubicBezTo>
                  <a:cubicBezTo>
                    <a:pt x="4021" y="3238"/>
                    <a:pt x="3858" y="3204"/>
                    <a:pt x="3704" y="3146"/>
                  </a:cubicBezTo>
                  <a:cubicBezTo>
                    <a:pt x="3928" y="2817"/>
                    <a:pt x="4043" y="2444"/>
                    <a:pt x="4043" y="2023"/>
                  </a:cubicBezTo>
                  <a:cubicBezTo>
                    <a:pt x="4043" y="1614"/>
                    <a:pt x="3928" y="1227"/>
                    <a:pt x="3704" y="913"/>
                  </a:cubicBezTo>
                  <a:cubicBezTo>
                    <a:pt x="3858" y="842"/>
                    <a:pt x="4021" y="820"/>
                    <a:pt x="4183" y="820"/>
                  </a:cubicBezTo>
                  <a:close/>
                  <a:moveTo>
                    <a:pt x="2021" y="1"/>
                  </a:moveTo>
                  <a:cubicBezTo>
                    <a:pt x="912" y="1"/>
                    <a:pt x="1" y="913"/>
                    <a:pt x="1" y="2023"/>
                  </a:cubicBezTo>
                  <a:cubicBezTo>
                    <a:pt x="1" y="3146"/>
                    <a:pt x="912" y="4046"/>
                    <a:pt x="2021" y="4046"/>
                  </a:cubicBezTo>
                  <a:cubicBezTo>
                    <a:pt x="2419" y="4046"/>
                    <a:pt x="2792" y="3928"/>
                    <a:pt x="3109" y="3740"/>
                  </a:cubicBezTo>
                  <a:cubicBezTo>
                    <a:pt x="3423" y="3939"/>
                    <a:pt x="3799" y="4046"/>
                    <a:pt x="4183" y="4046"/>
                  </a:cubicBezTo>
                  <a:cubicBezTo>
                    <a:pt x="5294" y="4046"/>
                    <a:pt x="6206" y="3146"/>
                    <a:pt x="6206" y="2023"/>
                  </a:cubicBezTo>
                  <a:cubicBezTo>
                    <a:pt x="6206" y="913"/>
                    <a:pt x="5294" y="1"/>
                    <a:pt x="4183" y="1"/>
                  </a:cubicBezTo>
                  <a:cubicBezTo>
                    <a:pt x="3799" y="1"/>
                    <a:pt x="3423" y="119"/>
                    <a:pt x="3109" y="315"/>
                  </a:cubicBezTo>
                  <a:cubicBezTo>
                    <a:pt x="2792" y="119"/>
                    <a:pt x="2419" y="1"/>
                    <a:pt x="2021" y="1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753" name="Google Shape;753;p38"/>
            <p:cNvSpPr/>
            <p:nvPr/>
          </p:nvSpPr>
          <p:spPr>
            <a:xfrm>
              <a:off x="7975513" y="3528575"/>
              <a:ext cx="20150" cy="20225"/>
            </a:xfrm>
            <a:custGeom>
              <a:rect b="b" l="l" r="r" t="t"/>
              <a:pathLst>
                <a:path extrusionOk="0" h="809" w="806">
                  <a:moveTo>
                    <a:pt x="396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6" y="808"/>
                  </a:cubicBezTo>
                  <a:cubicBezTo>
                    <a:pt x="620" y="808"/>
                    <a:pt x="805" y="620"/>
                    <a:pt x="805" y="398"/>
                  </a:cubicBezTo>
                  <a:cubicBezTo>
                    <a:pt x="805" y="177"/>
                    <a:pt x="620" y="0"/>
                    <a:pt x="396" y="0"/>
                  </a:cubicBezTo>
                  <a:close/>
                </a:path>
              </a:pathLst>
            </a:cu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oogle Shape;9001;p90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ARCHITECTURE</a:t>
            </a:r>
          </a:p>
        </p:txBody>
      </p:sp>
      <p:sp>
        <p:nvSpPr>
          <p:cNvPr id="9002" name="Google Shape;9002;p9000"/>
          <p:cNvSpPr txBox="1"/>
          <p:nvPr/>
        </p:nvSpPr>
        <p:spPr>
          <a:xfrm>
            <a:off x="719632" y="448056"/>
            <a:ext cx="7772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Clean layering — controllers stay thin, all money logic in one place</a:t>
            </a:r>
          </a:p>
        </p:txBody>
      </p:sp>
      <p:pic>
        <p:nvPicPr>
          <p:cNvPr id="8030" name="img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03920" cy="384048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MONEY INTEGRITY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0"/>
          <p:cNvSpPr txBox="1"/>
          <p:nvPr>
            <p:ph idx="4" type="subTitle"/>
          </p:nvPr>
        </p:nvSpPr>
        <p:spPr>
          <a:xfrm>
            <a:off x="816175" y="2279956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INTEGER ARITHMETIC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0"/>
          <p:cNvSpPr txBox="1"/>
          <p:nvPr>
            <p:ph idx="5" type="subTitle"/>
          </p:nvPr>
        </p:nvSpPr>
        <p:spPr>
          <a:xfrm>
            <a:off x="3227878" y="2279956"/>
            <a:ext cx="22602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DB-LEVEL DEFENCE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0"/>
          <p:cNvSpPr txBox="1"/>
          <p:nvPr>
            <p:ph idx="1" type="subTitle"/>
          </p:nvPr>
        </p:nvSpPr>
        <p:spPr>
          <a:xfrm>
            <a:off x="816175" y="2688296"/>
            <a:ext cx="22602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BalanceKobo stored as long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All amounts passed as long kobo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checked() catches overflow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 NGN = 100 kobo exactly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0"/>
          <p:cNvSpPr txBox="1"/>
          <p:nvPr>
            <p:ph idx="2" type="subTitle"/>
          </p:nvPr>
        </p:nvSpPr>
        <p:spPr>
          <a:xfrm>
            <a:off x="3227875" y="2688296"/>
            <a:ext cx="22602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CHECK (BalanceKobo &gt;= 0)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Backstop independent of app logic xmin row as concurrency token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Migration-verified at startup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0"/>
          <p:cNvSpPr txBox="1"/>
          <p:nvPr>
            <p:ph idx="3" type="subTitle"/>
          </p:nvPr>
        </p:nvSpPr>
        <p:spPr>
          <a:xfrm>
            <a:off x="5639575" y="2688300"/>
            <a:ext cx="26472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No fees / splits yet → no rounding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Future: document who absorbs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remainder kobo before merging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any feature that divides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0"/>
          <p:cNvSpPr txBox="1"/>
          <p:nvPr>
            <p:ph idx="6" type="subTitle"/>
          </p:nvPr>
        </p:nvSpPr>
        <p:spPr>
          <a:xfrm>
            <a:off x="5639575" y="2279956"/>
            <a:ext cx="3051900" cy="4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NO DIVISION WITHOUT POLICY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0" name="Google Shape;800;p40"/>
          <p:cNvGrpSpPr/>
          <p:nvPr/>
        </p:nvGrpSpPr>
        <p:grpSpPr>
          <a:xfrm>
            <a:off x="892363" y="1980881"/>
            <a:ext cx="346325" cy="345000"/>
            <a:chOff x="1725463" y="2681050"/>
            <a:chExt cx="346325" cy="345000"/>
          </a:xfrm>
        </p:grpSpPr>
        <p:sp>
          <p:nvSpPr>
            <p:cNvPr id="801" name="Google Shape;801;p40"/>
            <p:cNvSpPr/>
            <p:nvPr/>
          </p:nvSpPr>
          <p:spPr>
            <a:xfrm>
              <a:off x="1807588" y="2762650"/>
              <a:ext cx="181800" cy="181800"/>
            </a:xfrm>
            <a:custGeom>
              <a:rect b="b" l="l" r="r" t="t"/>
              <a:pathLst>
                <a:path extrusionOk="0" h="7272" w="7272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1725463" y="2681050"/>
              <a:ext cx="346325" cy="345000"/>
            </a:xfrm>
            <a:custGeom>
              <a:rect b="b" l="l" r="r" t="t"/>
              <a:pathLst>
                <a:path extrusionOk="0" h="13800" w="13853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03" name="Google Shape;803;p40"/>
          <p:cNvSpPr txBox="1"/>
          <p:nvPr/>
        </p:nvSpPr>
        <p:spPr>
          <a:xfrm>
            <a:off x="940595" y="1236475"/>
            <a:ext cx="73461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kobo is a long integer. No float. No decimal. No rounding drift — ever.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0"/>
          <p:cNvSpPr txBox="1"/>
          <p:nvPr/>
        </p:nvSpPr>
        <p:spPr>
          <a:xfrm>
            <a:off x="940595" y="4282100"/>
            <a:ext cx="7346100" cy="3708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from.BalanceKobo = fromBefore - req.AmountKobo;     to.BalanceKobo = checked(toBefore + req.AmountKobo);</a:t>
            </a:r>
            <a:endParaRPr b="1" sz="1200">
              <a:solidFill>
                <a:srgbClr val="D4A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5" name="Google Shape;805;p40"/>
          <p:cNvGrpSpPr/>
          <p:nvPr/>
        </p:nvGrpSpPr>
        <p:grpSpPr>
          <a:xfrm>
            <a:off x="5707611" y="1980838"/>
            <a:ext cx="345150" cy="345075"/>
            <a:chOff x="7036288" y="2118050"/>
            <a:chExt cx="345150" cy="345075"/>
          </a:xfrm>
        </p:grpSpPr>
        <p:sp>
          <p:nvSpPr>
            <p:cNvPr id="806" name="Google Shape;806;p40"/>
            <p:cNvSpPr/>
            <p:nvPr/>
          </p:nvSpPr>
          <p:spPr>
            <a:xfrm>
              <a:off x="7117838" y="2199825"/>
              <a:ext cx="181750" cy="181825"/>
            </a:xfrm>
            <a:custGeom>
              <a:rect b="b" l="l" r="r" t="t"/>
              <a:pathLst>
                <a:path extrusionOk="0" h="7273" w="727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7036288" y="2118050"/>
              <a:ext cx="345150" cy="345075"/>
            </a:xfrm>
            <a:custGeom>
              <a:rect b="b" l="l" r="r" t="t"/>
              <a:pathLst>
                <a:path extrusionOk="0" h="13803" w="13806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</p:grpSp>
      <p:grpSp>
        <p:nvGrpSpPr>
          <p:cNvPr id="808" name="Google Shape;808;p40"/>
          <p:cNvGrpSpPr/>
          <p:nvPr/>
        </p:nvGrpSpPr>
        <p:grpSpPr>
          <a:xfrm>
            <a:off x="3325069" y="2024500"/>
            <a:ext cx="345150" cy="345150"/>
            <a:chOff x="7783763" y="1564575"/>
            <a:chExt cx="345150" cy="345150"/>
          </a:xfrm>
        </p:grpSpPr>
        <p:sp>
          <p:nvSpPr>
            <p:cNvPr id="809" name="Google Shape;809;p40"/>
            <p:cNvSpPr/>
            <p:nvPr/>
          </p:nvSpPr>
          <p:spPr>
            <a:xfrm>
              <a:off x="7783763" y="1564575"/>
              <a:ext cx="345150" cy="345150"/>
            </a:xfrm>
            <a:custGeom>
              <a:rect b="b" l="l" r="r" t="t"/>
              <a:pathLst>
                <a:path extrusionOk="0" h="13806" w="13806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7867363" y="1848875"/>
              <a:ext cx="41525" cy="20525"/>
            </a:xfrm>
            <a:custGeom>
              <a:rect b="b" l="l" r="r" t="t"/>
              <a:pathLst>
                <a:path extrusionOk="0" h="821" w="1661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7972263" y="1740450"/>
              <a:ext cx="116025" cy="60850"/>
            </a:xfrm>
            <a:custGeom>
              <a:rect b="b" l="l" r="r" t="t"/>
              <a:pathLst>
                <a:path extrusionOk="0" h="2434" w="4641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rgbClr val="00C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CADA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CONCURRENCY SAFETY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1"/>
          <p:cNvSpPr txBox="1"/>
          <p:nvPr/>
        </p:nvSpPr>
        <p:spPr>
          <a:xfrm>
            <a:off x="940600" y="1236475"/>
            <a:ext cx="7346100" cy="6327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concurrent transfers against a wallet funded for exactly 50  →  50 succeed  ·  50 rejected  ·  balance drains to ₦0.00  ·  0 double-spends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1"/>
          <p:cNvSpPr txBox="1"/>
          <p:nvPr>
            <p:ph idx="6" type="subTitle"/>
          </p:nvPr>
        </p:nvSpPr>
        <p:spPr>
          <a:xfrm>
            <a:off x="4893300" y="2087928"/>
            <a:ext cx="34677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WHY NAIVE APPROACH FAILS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1"/>
          <p:cNvSpPr txBox="1"/>
          <p:nvPr>
            <p:ph idx="4294967295" type="subTitle"/>
          </p:nvPr>
        </p:nvSpPr>
        <p:spPr>
          <a:xfrm>
            <a:off x="4893300" y="2484353"/>
            <a:ext cx="3467700" cy="22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1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Read-check-write without a lock: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Two threads both read balance=1000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Both decide 1000 &gt;= 600, both proceed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i="1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Both debit → balance ends at -200 ❌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1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Optimistic-only (xmin) under high contention: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Most retries still succeed, but under burst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load retries storm the DB ❌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1" lang="en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  <a:t>Our approach: lock first, check inside lock ✓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1"/>
          <p:cNvSpPr txBox="1"/>
          <p:nvPr>
            <p:ph idx="4294967295" type="subTitle"/>
          </p:nvPr>
        </p:nvSpPr>
        <p:spPr>
          <a:xfrm>
            <a:off x="1028550" y="2486850"/>
            <a:ext cx="3704700" cy="22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1" lang="en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SELECT … FOR UPDATE on both wallet rows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Rows locked in wallet-id order (alphabetic Guid)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→  prevents deadlocks on opposing-direction transfers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ReadCommitted transaction holds both locks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Balance check + debit/credit + audit inside one tx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b="1" lang="en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DB CHECK (BalanceKobo &gt;= 0) as final backstop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xmin optimistic token catches any unlocked path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1"/>
          <p:cNvSpPr txBox="1"/>
          <p:nvPr>
            <p:ph idx="4" type="subTitle"/>
          </p:nvPr>
        </p:nvSpPr>
        <p:spPr>
          <a:xfrm>
            <a:off x="1028551" y="2090425"/>
            <a:ext cx="3211200" cy="4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IDEMPOTENCY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2"/>
          <p:cNvSpPr txBox="1"/>
          <p:nvPr/>
        </p:nvSpPr>
        <p:spPr>
          <a:xfrm>
            <a:off x="556525" y="1236475"/>
            <a:ext cx="1497600" cy="4848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sends transfer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Idempotency-Key: abc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2"/>
          <p:cNvSpPr txBox="1"/>
          <p:nvPr/>
        </p:nvSpPr>
        <p:spPr>
          <a:xfrm>
            <a:off x="6590500" y="1236475"/>
            <a:ext cx="1840200" cy="4848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Execute transfer +</a:t>
            </a:r>
            <a:br>
              <a:rPr b="1" lang="en" sz="1000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write idempotency record</a:t>
            </a:r>
            <a:br>
              <a:rPr b="1" lang="en" sz="1000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rgbClr val="012169"/>
                </a:solidFill>
                <a:latin typeface="Calibri"/>
                <a:ea typeface="Calibri"/>
                <a:cs typeface="Calibri"/>
                <a:sym typeface="Calibri"/>
              </a:rPr>
              <a:t>in ONE transaction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2"/>
          <p:cNvSpPr txBox="1"/>
          <p:nvPr/>
        </p:nvSpPr>
        <p:spPr>
          <a:xfrm>
            <a:off x="1137850" y="2792118"/>
            <a:ext cx="7127400" cy="9375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The critical design decision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idempotency record is written in the SAME database transaction as the balance mutation. There is no window where the transfer commits but the record does not — so a retry can never double-process money. Concurrent replays race on a unique index: the loser rolls back entirely.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2"/>
          <p:cNvSpPr txBox="1"/>
          <p:nvPr/>
        </p:nvSpPr>
        <p:spPr>
          <a:xfrm>
            <a:off x="1137850" y="3816675"/>
            <a:ext cx="3358500" cy="9375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  <a:t>Replay same key + same body</a:t>
            </a:r>
            <a:br>
              <a:rPr b="1" lang="en" sz="1200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 sz="1200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original 201 response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Idempotent-Replayed: true header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Money moved exactly once</a:t>
            </a:r>
            <a:endParaRPr b="1" sz="1200">
              <a:solidFill>
                <a:srgbClr val="1C8B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2"/>
          <p:cNvSpPr txBox="1"/>
          <p:nvPr/>
        </p:nvSpPr>
        <p:spPr>
          <a:xfrm>
            <a:off x="4906750" y="3816805"/>
            <a:ext cx="3358500" cy="937500"/>
          </a:xfrm>
          <a:prstGeom prst="rect">
            <a:avLst/>
          </a:prstGeom>
          <a:solidFill>
            <a:srgbClr val="FFFFFF">
              <a:alpha val="750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Reuse key + different body</a:t>
            </a:r>
            <a:br>
              <a:rPr b="1" lang="en" sz="1200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 sz="1200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409 Conflict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idempotency_key_reused error code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transfer unchanged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2"/>
          <p:cNvSpPr txBox="1"/>
          <p:nvPr/>
        </p:nvSpPr>
        <p:spPr>
          <a:xfrm>
            <a:off x="2487700" y="1236475"/>
            <a:ext cx="1497600" cy="484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found in DB?</a:t>
            </a:r>
            <a:br>
              <a:rPr b="1"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(fast path)</a:t>
            </a:r>
            <a:endParaRPr b="1"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2"/>
          <p:cNvSpPr txBox="1"/>
          <p:nvPr/>
        </p:nvSpPr>
        <p:spPr>
          <a:xfrm>
            <a:off x="4418875" y="1236473"/>
            <a:ext cx="1938900" cy="484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stored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(201)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Idempotent-Replayed:</a:t>
            </a: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2"/>
          <p:cNvSpPr txBox="1"/>
          <p:nvPr/>
        </p:nvSpPr>
        <p:spPr>
          <a:xfrm>
            <a:off x="2487700" y="1962659"/>
            <a:ext cx="1497600" cy="484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Same payload hash?</a:t>
            </a:r>
            <a:endParaRPr b="1"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2"/>
          <p:cNvSpPr txBox="1"/>
          <p:nvPr/>
        </p:nvSpPr>
        <p:spPr>
          <a:xfrm>
            <a:off x="4418875" y="1957032"/>
            <a:ext cx="1938900" cy="4848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409 Conflict key reused with</a:t>
            </a:r>
            <a:b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body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1" name="Google Shape;9101;p91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ALL REQUIREMENTS MET</a:t>
            </a:r>
          </a:p>
        </p:txBody>
      </p:sp>
      <p:sp>
        <p:nvSpPr>
          <p:cNvPr id="9102" name="Google Shape;9102;p9100"/>
          <p:cNvSpPr txBox="1"/>
          <p:nvPr/>
        </p:nvSpPr>
        <p:spPr>
          <a:xfrm>
            <a:off x="320040" y="1005840"/>
            <a:ext cx="4160520" cy="411480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</a:p>
        </p:txBody>
      </p:sp>
      <p:sp>
        <p:nvSpPr>
          <p:cNvPr id="9103" name="Google Shape;9103;p9100"/>
          <p:cNvSpPr txBox="1"/>
          <p:nvPr/>
        </p:nvSpPr>
        <p:spPr>
          <a:xfrm>
            <a:off x="4526280" y="1005840"/>
            <a:ext cx="4251960" cy="411480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</a:p>
        </p:txBody>
      </p:sp>
      <p:sp>
        <p:nvSpPr>
          <p:cNvPr id="9110" name="Google Shape;9110;p9100"/>
          <p:cNvSpPr txBox="1"/>
          <p:nvPr/>
        </p:nvSpPr>
        <p:spPr>
          <a:xfrm>
            <a:off x="320040" y="1481328"/>
            <a:ext cx="416052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Daily Limit</a:t>
            </a:r>
          </a:p>
        </p:txBody>
      </p:sp>
      <p:sp>
        <p:nvSpPr>
          <p:cNvPr id="9111" name="Google Shape;9111;p9100"/>
          <p:cNvSpPr txBox="1"/>
          <p:nvPr/>
        </p:nvSpPr>
        <p:spPr>
          <a:xfrm>
            <a:off x="4526280" y="1481328"/>
            <a:ext cx="425196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₦500,000 / wallet / WAT day. Computed from TransferOut rows under the same lock — always consistent with concurrent transfers. No counter. No reset cron.</a:t>
            </a:r>
          </a:p>
        </p:txBody>
      </p:sp>
      <p:sp>
        <p:nvSpPr>
          <p:cNvPr id="9112" name="Google Shape;9112;p9100"/>
          <p:cNvSpPr txBox="1"/>
          <p:nvPr/>
        </p:nvSpPr>
        <p:spPr>
          <a:xfrm>
            <a:off x="320040" y="1956816"/>
            <a:ext cx="416052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</a:p>
        </p:txBody>
      </p:sp>
      <p:sp>
        <p:nvSpPr>
          <p:cNvPr id="9113" name="Google Shape;9113;p9100"/>
          <p:cNvSpPr txBox="1"/>
          <p:nvPr/>
        </p:nvSpPr>
        <p:spPr>
          <a:xfrm>
            <a:off x="4526280" y="1956816"/>
            <a:ext cx="425196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GET /api/wallets/{id}/statement · paginated, newest-first · page/pageSize · totalCount for client paging</a:t>
            </a:r>
          </a:p>
        </p:txBody>
      </p:sp>
      <p:sp>
        <p:nvSpPr>
          <p:cNvPr id="9114" name="Google Shape;9114;p9100"/>
          <p:cNvSpPr txBox="1"/>
          <p:nvPr/>
        </p:nvSpPr>
        <p:spPr>
          <a:xfrm>
            <a:off x="320040" y="2432304"/>
            <a:ext cx="416052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</a:p>
        </p:txBody>
      </p:sp>
      <p:sp>
        <p:nvSpPr>
          <p:cNvPr id="9115" name="Google Shape;9115;p9100"/>
          <p:cNvSpPr txBox="1"/>
          <p:nvPr/>
        </p:nvSpPr>
        <p:spPr>
          <a:xfrm>
            <a:off x="4526280" y="2432304"/>
            <a:ext cx="425196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Separate append-only audit_logs table. SHA-256 hash-chained — tamper-evidence. balanceBefore / balanceAfter / correlationId on every row.</a:t>
            </a:r>
          </a:p>
        </p:txBody>
      </p:sp>
      <p:sp>
        <p:nvSpPr>
          <p:cNvPr id="9116" name="Google Shape;9116;p9100"/>
          <p:cNvSpPr txBox="1"/>
          <p:nvPr/>
        </p:nvSpPr>
        <p:spPr>
          <a:xfrm>
            <a:off x="320040" y="2907792"/>
            <a:ext cx="416052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JWT Auth</a:t>
            </a:r>
          </a:p>
        </p:txBody>
      </p:sp>
      <p:sp>
        <p:nvSpPr>
          <p:cNvPr id="9117" name="Google Shape;9117;p9100"/>
          <p:cNvSpPr txBox="1"/>
          <p:nvPr/>
        </p:nvSpPr>
        <p:spPr>
          <a:xfrm>
            <a:off x="4526280" y="2907792"/>
            <a:ext cx="425196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JwtBearer validates issuer · audience · lifetime · HMAC signature. POST /api/auth/token is a mock issuer — the middleware and claims handling is what's scored.</a:t>
            </a:r>
          </a:p>
        </p:txBody>
      </p:sp>
      <p:sp>
        <p:nvSpPr>
          <p:cNvPr id="9118" name="Google Shape;9118;p9100"/>
          <p:cNvSpPr txBox="1"/>
          <p:nvPr/>
        </p:nvSpPr>
        <p:spPr>
          <a:xfrm>
            <a:off x="320040" y="3383280"/>
            <a:ext cx="416052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</a:p>
        </p:txBody>
      </p:sp>
      <p:sp>
        <p:nvSpPr>
          <p:cNvPr id="9119" name="Google Shape;9119;p9100"/>
          <p:cNvSpPr txBox="1"/>
          <p:nvPr/>
        </p:nvSpPr>
        <p:spPr>
          <a:xfrm>
            <a:off x="4526280" y="3383280"/>
            <a:ext cx="425196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Token-bucket per authenticated subject (JWT sub → ClaimTypes.NameIdentifier). POST /api/transfers only.</a:t>
            </a:r>
          </a:p>
        </p:txBody>
      </p:sp>
      <p:sp>
        <p:nvSpPr>
          <p:cNvPr id="9120" name="Google Shape;9120;p9100"/>
          <p:cNvSpPr txBox="1"/>
          <p:nvPr/>
        </p:nvSpPr>
        <p:spPr>
          <a:xfrm>
            <a:off x="320040" y="3858768"/>
            <a:ext cx="416052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Outbox Pattern</a:t>
            </a:r>
          </a:p>
        </p:txBody>
      </p:sp>
      <p:sp>
        <p:nvSpPr>
          <p:cNvPr id="9121" name="Google Shape;9121;p9100"/>
          <p:cNvSpPr txBox="1"/>
          <p:nvPr/>
        </p:nvSpPr>
        <p:spPr>
          <a:xfrm>
            <a:off x="4526280" y="3858768"/>
            <a:ext cx="425196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TransferCompleted event written in the SAME transaction as the balance mutation. OutboxDispatcher hosted service drains asynchronously — at-least-once, no dual-write.</a:t>
            </a:r>
          </a:p>
        </p:txBody>
      </p:sp>
      <p:sp>
        <p:nvSpPr>
          <p:cNvPr id="9122" name="Google Shape;9122;p9100"/>
          <p:cNvSpPr txBox="1"/>
          <p:nvPr/>
        </p:nvSpPr>
        <p:spPr>
          <a:xfrm>
            <a:off x="320040" y="4334256"/>
            <a:ext cx="416052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Health Checks</a:t>
            </a:r>
          </a:p>
        </p:txBody>
      </p:sp>
      <p:sp>
        <p:nvSpPr>
          <p:cNvPr id="9123" name="Google Shape;9123;p9100"/>
          <p:cNvSpPr txBox="1"/>
          <p:nvPr/>
        </p:nvSpPr>
        <p:spPr>
          <a:xfrm>
            <a:off x="4526280" y="4334256"/>
            <a:ext cx="4251960" cy="47548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/health/live and /health/ready with DB connectivity check — suitable for Kubernetes liveness/readiness probes.</a:t>
            </a:r>
          </a:p>
        </p:txBody>
      </p:sp>
      <p:sp>
        <p:nvSpPr>
          <p:cNvPr id="9124" name="Google Shape;9124;p9100"/>
          <p:cNvSpPr txBox="1"/>
          <p:nvPr/>
        </p:nvSpPr>
        <p:spPr>
          <a:xfrm>
            <a:off x="320040" y="4809744"/>
            <a:ext cx="416052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</a:p>
        </p:txBody>
      </p:sp>
      <p:sp>
        <p:nvSpPr>
          <p:cNvPr id="9125" name="Google Shape;9125;p9100"/>
          <p:cNvSpPr txBox="1"/>
          <p:nvPr/>
        </p:nvSpPr>
        <p:spPr>
          <a:xfrm>
            <a:off x="4526280" y="4809744"/>
            <a:ext cx="4251960" cy="47548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Every error (validation, domain, malformed JSON, DB down) → application/problem+json with type, machine-readable title, correlationId, traceId, timestamp.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1" name="Google Shape;9201;p92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TEST RIGOUR  +  DEMO</a:t>
            </a:r>
          </a:p>
        </p:txBody>
      </p:sp>
      <p:sp>
        <p:nvSpPr>
          <p:cNvPr id="9202" name="Google Shape;9202;p9200"/>
          <p:cNvSpPr txBox="1"/>
          <p:nvPr/>
        </p:nvSpPr>
        <p:spPr>
          <a:xfrm>
            <a:off x="719632" y="448056"/>
            <a:ext cx="7772400" cy="38404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  <a:t>15 / 15 tests passed · Real PostgreSQL via Testcontainers · concurrency proven under load</a:t>
            </a:r>
          </a:p>
        </p:txBody>
      </p:sp>
      <p:pic>
        <p:nvPicPr>
          <p:cNvPr id="8080" name="img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2560320"/>
          </a:xfrm>
          <a:prstGeom prst="rect">
            <a:avLst/>
          </a:prstGeom>
        </p:spPr>
      </p:pic>
      <p:pic>
        <p:nvPicPr>
          <p:cNvPr id="8081" name="img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914400"/>
            <a:ext cx="3886200" cy="256032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B5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5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75" name="Google Shape;875;p45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Do you have any questions?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babatundeoladejo16</a:t>
            </a:r>
            <a:r>
              <a:rPr lang="en" sz="1200"/>
              <a:t>@gmail.com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+2348102992169</a:t>
            </a:r>
            <a:br>
              <a:rPr lang="en" sz="1200"/>
            </a:br>
            <a:r>
              <a:rPr lang="en" sz="1200"/>
              <a:t>https://babz-portfolio.vercel.app/</a:t>
            </a:r>
            <a:endParaRPr sz="1200"/>
          </a:p>
        </p:txBody>
      </p:sp>
      <p:sp>
        <p:nvSpPr>
          <p:cNvPr id="876" name="Google Shape;876;p45"/>
          <p:cNvSpPr txBox="1"/>
          <p:nvPr/>
        </p:nvSpPr>
        <p:spPr>
          <a:xfrm>
            <a:off x="1098425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Please keep this slide for attribution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7" name="Google Shape;877;p45"/>
          <p:cNvSpPr/>
          <p:nvPr/>
        </p:nvSpPr>
        <p:spPr>
          <a:xfrm rot="-5400000">
            <a:off x="689075" y="11653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8" name="Google Shape;878;p45"/>
          <p:cNvGrpSpPr/>
          <p:nvPr/>
        </p:nvGrpSpPr>
        <p:grpSpPr>
          <a:xfrm rot="10800000">
            <a:off x="7995518" y="3068895"/>
            <a:ext cx="681217" cy="3360485"/>
            <a:chOff x="1337800" y="-2525590"/>
            <a:chExt cx="1498167" cy="7390555"/>
          </a:xfrm>
        </p:grpSpPr>
        <p:cxnSp>
          <p:nvCxnSpPr>
            <p:cNvPr id="879" name="Google Shape;879;p4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4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1" name="Google Shape;881;p4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45"/>
          <p:cNvGrpSpPr/>
          <p:nvPr/>
        </p:nvGrpSpPr>
        <p:grpSpPr>
          <a:xfrm>
            <a:off x="7679244" y="3634568"/>
            <a:ext cx="247278" cy="1160062"/>
            <a:chOff x="1463894" y="1434556"/>
            <a:chExt cx="247278" cy="1160062"/>
          </a:xfrm>
        </p:grpSpPr>
        <p:sp>
          <p:nvSpPr>
            <p:cNvPr id="883" name="Google Shape;883;p45"/>
            <p:cNvSpPr/>
            <p:nvPr/>
          </p:nvSpPr>
          <p:spPr>
            <a:xfrm>
              <a:off x="1463894" y="2119623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5"/>
            <p:cNvSpPr/>
            <p:nvPr/>
          </p:nvSpPr>
          <p:spPr>
            <a:xfrm rot="10800000">
              <a:off x="1636072" y="143455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5" name="Google Shape;885;p45"/>
          <p:cNvGrpSpPr/>
          <p:nvPr/>
        </p:nvGrpSpPr>
        <p:grpSpPr>
          <a:xfrm flipH="1" rot="5400000">
            <a:off x="5492724" y="3041117"/>
            <a:ext cx="4486819" cy="625122"/>
            <a:chOff x="-78438" y="4073905"/>
            <a:chExt cx="4486819" cy="625122"/>
          </a:xfrm>
        </p:grpSpPr>
        <p:cxnSp>
          <p:nvCxnSpPr>
            <p:cNvPr id="886" name="Google Shape;886;p4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45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8" name="Google Shape;888;p45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45"/>
          <p:cNvSpPr/>
          <p:nvPr/>
        </p:nvSpPr>
        <p:spPr>
          <a:xfrm>
            <a:off x="7136111" y="32262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0" name="Google Shape;890;p45"/>
          <p:cNvGrpSpPr/>
          <p:nvPr/>
        </p:nvGrpSpPr>
        <p:grpSpPr>
          <a:xfrm>
            <a:off x="7423575" y="1976550"/>
            <a:ext cx="3859204" cy="615399"/>
            <a:chOff x="-6675" y="307100"/>
            <a:chExt cx="9140700" cy="4634025"/>
          </a:xfrm>
        </p:grpSpPr>
        <p:cxnSp>
          <p:nvCxnSpPr>
            <p:cNvPr id="891" name="Google Shape;891;p45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45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45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45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p45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45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45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45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45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45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1" name="Google Shape;901;p45"/>
          <p:cNvSpPr/>
          <p:nvPr/>
        </p:nvSpPr>
        <p:spPr>
          <a:xfrm>
            <a:off x="7145469" y="2096961"/>
            <a:ext cx="43116" cy="474994"/>
          </a:xfrm>
          <a:custGeom>
            <a:rect b="b" l="l" r="r" t="t"/>
            <a:pathLst>
              <a:path extrusionOk="0" fill="none" h="8307" w="754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724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2" name="Google Shape;902;p45"/>
          <p:cNvGrpSpPr/>
          <p:nvPr/>
        </p:nvGrpSpPr>
        <p:grpSpPr>
          <a:xfrm>
            <a:off x="2389175" y="-353800"/>
            <a:ext cx="5859225" cy="1631012"/>
            <a:chOff x="2389175" y="-353800"/>
            <a:chExt cx="5859225" cy="1631012"/>
          </a:xfrm>
        </p:grpSpPr>
        <p:sp>
          <p:nvSpPr>
            <p:cNvPr id="903" name="Google Shape;903;p45"/>
            <p:cNvSpPr/>
            <p:nvPr/>
          </p:nvSpPr>
          <p:spPr>
            <a:xfrm>
              <a:off x="2389175" y="-353800"/>
              <a:ext cx="5859225" cy="1137700"/>
            </a:xfrm>
            <a:custGeom>
              <a:rect b="b" l="l" r="r" t="t"/>
              <a:pathLst>
                <a:path extrusionOk="0" h="45508" w="234369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04" name="Google Shape;904;p45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905" name="Google Shape;905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1" name="Google Shape;9301;p93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AI USAGE &amp; JUDGMENT</a:t>
            </a:r>
          </a:p>
        </p:txBody>
      </p:sp>
      <p:sp>
        <p:nvSpPr>
          <p:cNvPr id="9302" name="Google Shape;9302;p9300"/>
          <p:cNvSpPr txBox="1"/>
          <p:nvPr/>
        </p:nvSpPr>
        <p:spPr>
          <a:xfrm>
            <a:off x="719632" y="448056"/>
            <a:ext cx="7772400" cy="33832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Used AI to move fast — and caught where it was wrong for a financial system</a:t>
            </a:r>
          </a:p>
        </p:txBody>
      </p:sp>
      <p:sp>
        <p:nvSpPr>
          <p:cNvPr id="9310" name="Google Shape;9310;p9300"/>
          <p:cNvSpPr txBox="1"/>
          <p:nvPr/>
        </p:nvSpPr>
        <p:spPr>
          <a:xfrm>
            <a:off x="320040" y="914400"/>
            <a:ext cx="8503920" cy="384048"/>
          </a:xfrm>
          <a:prstGeom prst="rect">
            <a:avLst/>
          </a:prstGeom>
          <a:solidFill>
            <a:srgbClr val="1A0A0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BUG 1 — Runtime crash in validation</a:t>
            </a:r>
          </a:p>
        </p:txBody>
      </p:sp>
      <p:sp>
        <p:nvSpPr>
          <p:cNvPr id="9311" name="Google Shape;9311;p9300"/>
          <p:cNvSpPr txBox="1"/>
          <p:nvPr/>
        </p:nvSpPr>
        <p:spPr>
          <a:xfrm>
            <a:off x="320040" y="1298448"/>
            <a:ext cx="8503920" cy="978408"/>
          </a:xfrm>
          <a:prstGeom prst="rect">
            <a:avLst/>
          </a:prstGeom>
          <a:solidFill>
            <a:srgbClr val="0D0D2B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[property: Required] on positional records compiled fine but crashed every request at runtime.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ASP.NET Core silently ignores validation attrs on record properties — they must bind to the constructor parameter.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Caught by running the service. Fixed by removing the property: target.</a:t>
            </a:r>
          </a:p>
        </p:txBody>
      </p:sp>
      <p:sp>
        <p:nvSpPr>
          <p:cNvPr id="9313" name="Google Shape;9313;p9300"/>
          <p:cNvSpPr txBox="1"/>
          <p:nvPr/>
        </p:nvSpPr>
        <p:spPr>
          <a:xfrm>
            <a:off x="320040" y="2331720"/>
            <a:ext cx="8503920" cy="384048"/>
          </a:xfrm>
          <a:prstGeom prst="rect">
            <a:avLst/>
          </a:prstGeom>
          <a:solidFill>
            <a:srgbClr val="1A0A0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BUG 2 — Concurrency lock silently broken</a:t>
            </a:r>
          </a:p>
        </p:txBody>
      </p:sp>
      <p:sp>
        <p:nvSpPr>
          <p:cNvPr id="9314" name="Google Shape;9314;p9300"/>
          <p:cNvSpPr txBox="1"/>
          <p:nvPr/>
        </p:nvSpPr>
        <p:spPr>
          <a:xfrm>
            <a:off x="320040" y="2715768"/>
            <a:ext cx="8503920" cy="978408"/>
          </a:xfrm>
          <a:prstGeom prst="rect">
            <a:avLst/>
          </a:prstGeom>
          <a:solidFill>
            <a:srgbClr val="0D0D2B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AI wrote: SELECT * FROM wallets FOR UPDATE.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xmin is a PostgreSQL SYSTEM column — not returned by SELECT *.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EF projected xmin as the concurrency token → 'column n.xmin does not exist' on every transfer.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Without xmin, the entire optimistic-lock backstop was gone — a critical financial safety defect.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Caught by hitting transfer against the live container. Fixed by listing all columns explicitly including xmin.</a:t>
            </a:r>
          </a:p>
        </p:txBody>
      </p:sp>
      <p:sp>
        <p:nvSpPr>
          <p:cNvPr id="9316" name="Google Shape;9316;p9300"/>
          <p:cNvSpPr txBox="1"/>
          <p:nvPr/>
        </p:nvSpPr>
        <p:spPr>
          <a:xfrm>
            <a:off x="320040" y="3749039"/>
            <a:ext cx="8503920" cy="384048"/>
          </a:xfrm>
          <a:prstGeom prst="rect">
            <a:avLst/>
          </a:prstGeom>
          <a:solidFill>
            <a:srgbClr val="1A0A0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200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BUG 3 — Rate limiter bucketed all users together</a:t>
            </a:r>
          </a:p>
        </p:txBody>
      </p:sp>
      <p:sp>
        <p:nvSpPr>
          <p:cNvPr id="9317" name="Google Shape;9317;p9300"/>
          <p:cNvSpPr txBox="1"/>
          <p:nvPr/>
        </p:nvSpPr>
        <p:spPr>
          <a:xfrm>
            <a:off x="320040" y="4133087"/>
            <a:ext cx="8503920" cy="978408"/>
          </a:xfrm>
          <a:prstGeom prst="rect">
            <a:avLst/>
          </a:prstGeom>
          <a:solidFill>
            <a:srgbClr val="0D0D2B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AI partitioned by httpContext.User.Identity?.Name — which is null for JWT tokens that only carry sub.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JwtBearer maps sub → ClaimTypes.NameIdentifier, not Identity.Name.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Every caller shared the same IP-based bucket. Caught by the concurrency load test: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expected 50 successes, got ~15 with TooManyRequests.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Fixed by partitioning on ClaimTypes.NameIdentifier ?? sub ?? Name ?? IP.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1" name="Google Shape;9401;p94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OPERATING CONTEXT</a:t>
            </a:r>
          </a:p>
        </p:txBody>
      </p:sp>
      <p:sp>
        <p:nvSpPr>
          <p:cNvPr id="9402" name="Google Shape;9402;p9400"/>
          <p:cNvSpPr txBox="1"/>
          <p:nvPr/>
        </p:nvSpPr>
        <p:spPr>
          <a:xfrm>
            <a:off x="719632" y="448056"/>
            <a:ext cx="7772400" cy="33832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Where the Nigerian fintech constraints touch this design specifically</a:t>
            </a:r>
          </a:p>
        </p:txBody>
      </p:sp>
      <p:sp>
        <p:nvSpPr>
          <p:cNvPr id="9410" name="Google Shape;9410;p9400"/>
          <p:cNvSpPr txBox="1"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  <a:t>₦ in kobo · no float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Implemented ✓</a:t>
            </a:r>
          </a:p>
        </p:txBody>
      </p:sp>
      <p:sp>
        <p:nvSpPr>
          <p:cNvPr id="9411" name="Google Shape;9411;p9400"/>
          <p:cNvSpPr txBox="1"/>
          <p:nvPr/>
        </p:nvSpPr>
        <p:spPr>
          <a:xfrm>
            <a:off x="320040" y="129844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Enforced end-to-end. Critical note: any future feature that divides kobo (fee splits, FX, interest) produces remainders. Document rounding policy before merging.</a:t>
            </a:r>
          </a:p>
        </p:txBody>
      </p:sp>
      <p:sp>
        <p:nvSpPr>
          <p:cNvPr id="9413" name="Google Shape;9413;p9400"/>
          <p:cNvSpPr txBox="1"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Tiered KYC (BVN / NIN)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Seam identified — next build</a:t>
            </a:r>
          </a:p>
        </p:txBody>
      </p:sp>
      <p:sp>
        <p:nvSpPr>
          <p:cNvPr id="9414" name="Google Shape;9414;p9400"/>
          <p:cNvSpPr txBox="1"/>
          <p:nvPr/>
        </p:nvSpPr>
        <p:spPr>
          <a:xfrm>
            <a:off x="4663440" y="129844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Daily limit is a function of KYC tier, not a global constant. DailyOutboundLimitKobo should resolve per-wallet from KycTier. Attaches to TransferAsync limit check.</a:t>
            </a:r>
          </a:p>
        </p:txBody>
      </p:sp>
      <p:sp>
        <p:nvSpPr>
          <p:cNvPr id="9416" name="Google Shape;9416;p9400"/>
          <p:cNvSpPr txBox="1"/>
          <p:nvPr/>
        </p:nvSpPr>
        <p:spPr>
          <a:xfrm>
            <a:off x="320040" y="224028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NIBSS NIP rails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Outbox ready · states deferred</a:t>
            </a:r>
          </a:p>
        </p:txBody>
      </p:sp>
      <p:sp>
        <p:nvSpPr>
          <p:cNvPr id="9417" name="Google Shape;9417;p9400"/>
          <p:cNvSpPr txBox="1"/>
          <p:nvPr/>
        </p:nvSpPr>
        <p:spPr>
          <a:xfrm>
            <a:off x="320040" y="262432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Inbound credit = external notification; must be idempotent on NIP session ID (not client header). Outbound = pending → settled/failed, not instant. Outbox pattern is the right foundation.</a:t>
            </a:r>
          </a:p>
        </p:txBody>
      </p:sp>
      <p:sp>
        <p:nvSpPr>
          <p:cNvPr id="9419" name="Google Shape;9419;p9400"/>
          <p:cNvSpPr txBox="1"/>
          <p:nvPr/>
        </p:nvSpPr>
        <p:spPr>
          <a:xfrm>
            <a:off x="4663440" y="224028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1C8B5A"/>
                </a:solidFill>
                <a:latin typeface="Calibri"/>
                <a:ea typeface="Calibri"/>
                <a:cs typeface="Calibri"/>
                <a:sym typeface="Calibri"/>
              </a:rPr>
              <a:t>USSD *894#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Server-side kobo ✓</a:t>
            </a:r>
          </a:p>
        </p:txBody>
      </p:sp>
      <p:sp>
        <p:nvSpPr>
          <p:cNvPr id="9420" name="Google Shape;9420;p9400"/>
          <p:cNvSpPr txBox="1"/>
          <p:nvPr/>
        </p:nvSpPr>
        <p:spPr>
          <a:xfrm>
            <a:off x="4663440" y="262432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No JWT for feature phones. USSD gateway auth by MSISDN+PIN, calls API on user's behalf. Naira→kobo must be server-side — already enforced; UI conversion is convenience only.</a:t>
            </a:r>
          </a:p>
        </p:txBody>
      </p:sp>
      <p:sp>
        <p:nvSpPr>
          <p:cNvPr id="9422" name="Google Shape;9422;p9400"/>
          <p:cNvSpPr txBox="1"/>
          <p:nvPr/>
        </p:nvSpPr>
        <p:spPr>
          <a:xfrm>
            <a:off x="320040" y="356616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NDPA 2023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Schema correct · retention TBD</a:t>
            </a:r>
          </a:p>
        </p:txBody>
      </p:sp>
      <p:sp>
        <p:nvSpPr>
          <p:cNvPr id="9423" name="Google Shape;9423;p9400"/>
          <p:cNvSpPr txBox="1"/>
          <p:nvPr/>
        </p:nvSpPr>
        <p:spPr>
          <a:xfrm>
            <a:off x="320040" y="395020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Audit log stores correlationId + customerId — not raw BVN/NIN. Immutability vs. erasure rights: resolve by storing identifiers by reference. Retention window needed.</a:t>
            </a:r>
          </a:p>
        </p:txBody>
      </p:sp>
      <p:sp>
        <p:nvSpPr>
          <p:cNvPr id="9425" name="Google Shape;9425;p9400"/>
          <p:cNvSpPr txBox="1"/>
          <p:nvPr/>
        </p:nvSpPr>
        <p:spPr>
          <a:xfrm>
            <a:off x="4663440" y="3566160"/>
            <a:ext cx="4160520" cy="384048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CBN consumer protection</a:t>
            </a:r>
            <a:r>
              <a:rPr b="0" sz="8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Errors transparent ✓ · Reversal TBD</a:t>
            </a:r>
          </a:p>
        </p:txBody>
      </p:sp>
      <p:sp>
        <p:nvSpPr>
          <p:cNvPr id="9426" name="Google Shape;9426;p9400"/>
          <p:cNvSpPr txBox="1"/>
          <p:nvPr/>
        </p:nvSpPr>
        <p:spPr>
          <a:xfrm>
            <a:off x="4663440" y="3950208"/>
            <a:ext cx="4160520" cy="896112"/>
          </a:xfrm>
          <a:prstGeom prst="rect">
            <a:avLst/>
          </a:prstGeom>
          <a:solidFill>
            <a:srgbClr val="0A1E4A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Customers must be told why a transfer failed — error codes do this. Honest gap: no reversal/refund path. A failed outbound NIP leg must return funds. Next to build.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B52"/>
        </a:solidFill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1" name="Google Shape;9501;p9500"/>
          <p:cNvSpPr txBox="1"/>
          <p:nvPr>
            <p:ph type="title"/>
          </p:nvPr>
        </p:nvSpPr>
        <p:spPr>
          <a:xfrm>
            <a:off x="719632" y="445312"/>
            <a:ext cx="7703820" cy="57241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WHAT I'D BUILD NEXT</a:t>
            </a:r>
          </a:p>
        </p:txBody>
      </p:sp>
      <p:sp>
        <p:nvSpPr>
          <p:cNvPr id="9502" name="Google Shape;9502;p9500"/>
          <p:cNvSpPr txBox="1"/>
          <p:nvPr/>
        </p:nvSpPr>
        <p:spPr>
          <a:xfrm>
            <a:off x="719632" y="448056"/>
            <a:ext cx="7772400" cy="33832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Deliberate scope decisions — and the honest gaps</a:t>
            </a:r>
          </a:p>
        </p:txBody>
      </p:sp>
      <p:sp>
        <p:nvSpPr>
          <p:cNvPr id="9503" name="Google Shape;9503;p9500"/>
          <p:cNvSpPr txBox="1"/>
          <p:nvPr/>
        </p:nvSpPr>
        <p:spPr>
          <a:xfrm>
            <a:off x="320040" y="868680"/>
            <a:ext cx="4846320" cy="320040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PRIORITY BACKLOG</a:t>
            </a:r>
          </a:p>
        </p:txBody>
      </p:sp>
      <p:sp>
        <p:nvSpPr>
          <p:cNvPr id="9520" name="Google Shape;9520;p9500"/>
          <p:cNvSpPr txBox="1"/>
          <p:nvPr/>
        </p:nvSpPr>
        <p:spPr>
          <a:xfrm>
            <a:off x="320040" y="1234440"/>
            <a:ext cx="502920" cy="667512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2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9521" name="Google Shape;9521;p9500"/>
          <p:cNvSpPr txBox="1"/>
          <p:nvPr/>
        </p:nvSpPr>
        <p:spPr>
          <a:xfrm>
            <a:off x="850392" y="1234440"/>
            <a:ext cx="4315968" cy="667512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KycTier on Wallet → per-tier daily limit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CBN tiered KYC — most impactful regulatory gap</a:t>
            </a:r>
          </a:p>
        </p:txBody>
      </p:sp>
      <p:sp>
        <p:nvSpPr>
          <p:cNvPr id="9522" name="Google Shape;9522;p9500"/>
          <p:cNvSpPr txBox="1"/>
          <p:nvPr/>
        </p:nvSpPr>
        <p:spPr>
          <a:xfrm>
            <a:off x="320040" y="1947672"/>
            <a:ext cx="502920" cy="667512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2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9523" name="Google Shape;9523;p9500"/>
          <p:cNvSpPr txBox="1"/>
          <p:nvPr/>
        </p:nvSpPr>
        <p:spPr>
          <a:xfrm>
            <a:off x="850392" y="1947672"/>
            <a:ext cx="4315968" cy="667512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Reversal / refund endpoint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Consumer-protection requirement for failed NIP legs</a:t>
            </a:r>
          </a:p>
        </p:txBody>
      </p:sp>
      <p:sp>
        <p:nvSpPr>
          <p:cNvPr id="9524" name="Google Shape;9524;p9500"/>
          <p:cNvSpPr txBox="1"/>
          <p:nvPr/>
        </p:nvSpPr>
        <p:spPr>
          <a:xfrm>
            <a:off x="320040" y="2660904"/>
            <a:ext cx="502920" cy="667512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2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9525" name="Google Shape;9525;p9500"/>
          <p:cNvSpPr txBox="1"/>
          <p:nvPr/>
        </p:nvSpPr>
        <p:spPr>
          <a:xfrm>
            <a:off x="850392" y="2660904"/>
            <a:ext cx="4315968" cy="667512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 / settled transaction states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Outbound NIP transfers are async, not instant-final</a:t>
            </a:r>
          </a:p>
        </p:txBody>
      </p:sp>
      <p:sp>
        <p:nvSpPr>
          <p:cNvPr id="9526" name="Google Shape;9526;p9500"/>
          <p:cNvSpPr txBox="1"/>
          <p:nvPr/>
        </p:nvSpPr>
        <p:spPr>
          <a:xfrm>
            <a:off x="320040" y="3374136"/>
            <a:ext cx="502920" cy="667512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2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9527" name="Google Shape;9527;p9500"/>
          <p:cNvSpPr txBox="1"/>
          <p:nvPr/>
        </p:nvSpPr>
        <p:spPr>
          <a:xfrm>
            <a:off x="850392" y="3374136"/>
            <a:ext cx="4315968" cy="667512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USSD adapter — MSISDN + PIN principal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Feature-phone / low-connectivity users on *894#</a:t>
            </a:r>
          </a:p>
        </p:txBody>
      </p:sp>
      <p:sp>
        <p:nvSpPr>
          <p:cNvPr id="9528" name="Google Shape;9528;p9500"/>
          <p:cNvSpPr txBox="1"/>
          <p:nvPr/>
        </p:nvSpPr>
        <p:spPr>
          <a:xfrm>
            <a:off x="320040" y="4087368"/>
            <a:ext cx="502920" cy="667512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sz="20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9529" name="Google Shape;9529;p9500"/>
          <p:cNvSpPr txBox="1"/>
          <p:nvPr/>
        </p:nvSpPr>
        <p:spPr>
          <a:xfrm>
            <a:off x="850392" y="4087368"/>
            <a:ext cx="4315968" cy="667512"/>
          </a:xfrm>
          <a:prstGeom prst="rect">
            <a:avLst/>
          </a:prstGeom>
          <a:solidFill>
            <a:srgbClr val="041B5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NDPA retention policy on audit_logs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Data-subject erasure rights vs. immutable audit</a:t>
            </a:r>
          </a:p>
        </p:txBody>
      </p:sp>
      <p:sp>
        <p:nvSpPr>
          <p:cNvPr id="9504" name="Google Shape;9504;p9500"/>
          <p:cNvSpPr txBox="1"/>
          <p:nvPr/>
        </p:nvSpPr>
        <p:spPr>
          <a:xfrm>
            <a:off x="5257800" y="868680"/>
            <a:ext cx="3566160" cy="320040"/>
          </a:xfrm>
          <a:prstGeom prst="rect">
            <a:avLst/>
          </a:prstGeom>
          <a:solidFill>
            <a:srgbClr val="05153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100" lang="en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KEY TRADE-OFFS</a:t>
            </a:r>
          </a:p>
        </p:txBody>
      </p:sp>
      <p:sp>
        <p:nvSpPr>
          <p:cNvPr id="9530" name="Google Shape;9530;p9500"/>
          <p:cNvSpPr txBox="1"/>
          <p:nvPr/>
        </p:nvSpPr>
        <p:spPr>
          <a:xfrm>
            <a:off x="5257800" y="1234440"/>
            <a:ext cx="3566160" cy="38404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Pessimistic locks over optimistic retry</a:t>
            </a:r>
          </a:p>
        </p:txBody>
      </p:sp>
      <p:sp>
        <p:nvSpPr>
          <p:cNvPr id="9531" name="Google Shape;9531;p9500"/>
          <p:cNvSpPr txBox="1"/>
          <p:nvPr/>
        </p:nvSpPr>
        <p:spPr>
          <a:xfrm>
            <a:off x="5257800" y="1618488"/>
            <a:ext cx="3566160" cy="713232"/>
          </a:xfrm>
          <a:prstGeom prst="rect">
            <a:avLst/>
          </a:prstGeom>
          <a:solidFill>
            <a:srgbClr val="05153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Correct under burst load; avoids retry storms. Queue cleanly, don't retry-stampede.</a:t>
            </a:r>
          </a:p>
        </p:txBody>
      </p:sp>
      <p:sp>
        <p:nvSpPr>
          <p:cNvPr id="9532" name="Google Shape;9532;p9500"/>
          <p:cNvSpPr txBox="1"/>
          <p:nvPr/>
        </p:nvSpPr>
        <p:spPr>
          <a:xfrm>
            <a:off x="5257800" y="2377440"/>
            <a:ext cx="3566160" cy="38404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Daily limit from history, no counter</a:t>
            </a:r>
          </a:p>
        </p:txBody>
      </p:sp>
      <p:sp>
        <p:nvSpPr>
          <p:cNvPr id="9533" name="Google Shape;9533;p9500"/>
          <p:cNvSpPr txBox="1"/>
          <p:nvPr/>
        </p:nvSpPr>
        <p:spPr>
          <a:xfrm>
            <a:off x="5257800" y="2761488"/>
            <a:ext cx="3566160" cy="713232"/>
          </a:xfrm>
          <a:prstGeom prst="rect">
            <a:avLst/>
          </a:prstGeom>
          <a:solidFill>
            <a:srgbClr val="05153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Always consistent; no reset cron job; no crash leaves a counter wrong.</a:t>
            </a:r>
          </a:p>
        </p:txBody>
      </p:sp>
      <p:sp>
        <p:nvSpPr>
          <p:cNvPr id="9534" name="Google Shape;9534;p9500"/>
          <p:cNvSpPr txBox="1"/>
          <p:nvPr/>
        </p:nvSpPr>
        <p:spPr>
          <a:xfrm>
            <a:off x="5257800" y="3520440"/>
            <a:ext cx="3566160" cy="384048"/>
          </a:xfrm>
          <a:prstGeom prst="rect">
            <a:avLst/>
          </a:prstGeom>
          <a:solidFill>
            <a:srgbClr val="0A1E4A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000" lang="en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Mock JWT issuer</a:t>
            </a:r>
          </a:p>
        </p:txBody>
      </p:sp>
      <p:sp>
        <p:nvSpPr>
          <p:cNvPr id="9535" name="Google Shape;9535;p9500"/>
          <p:cNvSpPr txBox="1"/>
          <p:nvPr/>
        </p:nvSpPr>
        <p:spPr>
          <a:xfrm>
            <a:off x="5257800" y="3904488"/>
            <a:ext cx="3566160" cy="713232"/>
          </a:xfrm>
          <a:prstGeom prst="rect">
            <a:avLst/>
          </a:prstGeom>
          <a:solidFill>
            <a:srgbClr val="05153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sz="900" lang="en">
                <a:solidFill>
                  <a:srgbClr val="F7F5EF"/>
                </a:solidFill>
                <a:latin typeface="Calibri"/>
                <a:ea typeface="Calibri"/>
                <a:cs typeface="Calibri"/>
                <a:sym typeface="Calibri"/>
              </a:rPr>
              <a:t>The middleware and claims handling is what's scored — not building an IdP.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