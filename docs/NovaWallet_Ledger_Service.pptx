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thank you for your time.</a:t>
            </a:r>
          </a:p>
          <a:p/>
          <a:p>
            <a:r>
              <a:t>I'm going to walk you through the NovaWallet Ledger Service — a simplified but production-realistic wallet ledger I built for the NovaWallet module of FirstBank NovaPay.</a:t>
            </a:r>
          </a:p>
          <a:p/>
          <a:p>
            <a:r>
              <a:t>This is the component that must never lose, duplicate, or miscount a customer's money, and I'll show you exactly how I approached that.</a:t>
            </a:r>
          </a:p>
          <a:p/>
          <a:p>
            <a:r>
              <a:t>Presentation is 10 minutes: problem → architecture → the three hard problems → tests → AI usage → operating context → what I'd build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what we're building and why the constraints matter.</a:t>
            </a:r>
          </a:p>
          <a:p/>
          <a:p>
            <a:r>
              <a:t>The key requirement the assessors flag is the combination of concurrency safety with the kobo-only constraint. These two interact: any amount division (fees, splits, rounding) in kobo will produce remainders, so you need a policy for who absorbs the leftover kobo. I'll come back to that.</a:t>
            </a:r>
          </a:p>
          <a:p/>
          <a:p>
            <a:r>
              <a:t>The hard constraints are non-negotiable because this is a financial ledger. The balance-never-negative rule under concurrent load is the single hardest thing to get right, and I'll show exactly how I enforced it.</a:t>
            </a:r>
          </a:p>
          <a:p/>
          <a:p>
            <a:r>
              <a:t>All four stretch goals are implemented: rate limiting on the transfer endpoint, a transactional outbox publishing TransferCompleted events, correlation IDs in every log and error response, and health/readiness endpoints at /health/live and /health/ready.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architecture at a glance. Three layers: Clients, API, and Application — with PostgreSQL underneath.</a:t>
            </a:r>
          </a:p>
          <a:p/>
          <a:p>
            <a:r>
              <a:t>The key design decision is that LedgerService is the single choke point for all balance mutations. Controllers bind and validate input, then delegate. This makes the money invariants auditable — there is exactly one place where balances change, and it is transactional.</a:t>
            </a:r>
          </a:p>
          <a:p/>
          <a:p>
            <a:r>
              <a:t>The cross-cutting band shows logging, correlation IDs, and health checks. The outbox dispatcher runs as a hosted background service — it drains the outbox table and publishes TransferCompleted events asynchronously.</a:t>
            </a:r>
          </a:p>
          <a:p/>
          <a:p>
            <a:r>
              <a:t>Notice the RFC 7807 exception handler sits between controllers and the domain — every error, whether from model validation, a domain rule, or an infrastructure fault, goes through a single ProblemFactory that stamps correlationId, traceId, and timestamp consistently.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foundation is simple: every monetary value is a long integer in kobo, everywhere. Entity fields, DTOs, EF column types, arithmetic — all long.</a:t>
            </a:r>
          </a:p>
          <a:p/>
          <a:p>
            <a:r>
              <a:t>checked() in C# means overflow throws rather than silently wrapping, which is the right behaviour on the money path.</a:t>
            </a:r>
          </a:p>
          <a:p/>
          <a:p>
            <a:r>
              <a:t>The database CHECK constraint is defence in depth: even if a code bug escapes the application checks, PostgreSQL will refuse to write a negative balance. It's a safety net that doesn't rely on application logic being correct.</a:t>
            </a:r>
          </a:p>
          <a:p/>
          <a:p>
            <a:r>
              <a:t>The important note for future development: as soon as you introduce any feature that divides kobo — fee splits, interest calculations, percentage-based charges — you get remainders. You need an explicit policy for who absorbs the leftover kobo before that code is merged. I documented this assumption in the README.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headline requirement and the one I spent the most time on.</a:t>
            </a:r>
          </a:p>
          <a:p/>
          <a:p>
            <a:r>
              <a:t>The naive approach — read the balance, check it's enough, then write — has a classic race condition: two concurrent requests both read the same balance, both conclude there are sufficient funds, and both debit, leaving the balance negative.</a:t>
            </a:r>
          </a:p>
          <a:p/>
          <a:p>
            <a:r>
              <a:t>Our approach takes an explicit row-level write lock via SELECT FOR UPDATE before doing any balance checks. The lock is held for the entire transaction, so concurrent transfers on the same wallet are serialised by PostgreSQL — they queue up and each one sees the updated balance from the previous.</a:t>
            </a:r>
          </a:p>
          <a:p/>
          <a:p>
            <a:r>
              <a:t>The id-ordering of locks (we always lock the lower wallet Guid first) prevents deadlocks when two transfers happen in opposite directions on the same pair of wallets simultaneously.</a:t>
            </a:r>
          </a:p>
          <a:p/>
          <a:p>
            <a:r>
              <a:t>I proved this with an automated test: 100 goroutine-equivalent concurrent transfers against a wallet funded for exactly 50 of them. The result must be exactly 50 succeed, 50 rejected with insufficient-funds, source drains to zero, destination holds exactly what left the source. That test passes every run.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Idempotency is critical for financial APIs because networks are unreliable. A client that doesn't hear back from a transfer request doesn't know if the money moved. Without idempotency, a retry would move the money twice.</a:t>
            </a:r>
          </a:p>
          <a:p/>
          <a:p>
            <a:r>
              <a:t>The standard approach — store the idempotency record separately after the transfer — has a race: the transfer commits, then a crash before the record is stored means the next retry re-runs the transfer.</a:t>
            </a:r>
          </a:p>
          <a:p/>
          <a:p>
            <a:r>
              <a:t>Our approach: the idempotency record is inserted in the exact same database transaction as the balance mutation. They commit together or roll back together. This makes replay protection atomic with the money movement.</a:t>
            </a:r>
          </a:p>
          <a:p/>
          <a:p>
            <a:r>
              <a:t>Concurrent replays race on a unique index on the key. The first writer commits both the transfer and the record; the loser's unique-index violation triggers a rollback, and we return the winner's stored response. The money moved exactly once regardless of how many concurrent retries fired.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quickly confirm every requirement from the brief is met.</a:t>
            </a:r>
          </a:p>
          <a:p/>
          <a:p>
            <a:r>
              <a:t>The daily limit is computed from actual transaction rows under the same row lock, not a separate counter. This means it's always consistent with concurrent transfers — if two transfers try to hit the limit simultaneously, only one can win the lock and the second sees the updated spend total.</a:t>
            </a:r>
          </a:p>
          <a:p/>
          <a:p>
            <a:r>
              <a:t>The audit log is a separate table from transactions, as the brief specifically requires. It's hash-chained — each row includes the SHA-256 of the previous row's hash in its own hash, so if anyone deletes or modifies a row, the chain breaks and it's detectable. This is a regulatory pattern for immutable audit trails.</a:t>
            </a:r>
          </a:p>
          <a:p/>
          <a:p>
            <a:r>
              <a:t>The error handling was improved beyond the brief's requirement: every error path — validation, domain, malformed JSON, DB unreachable, client cancellation — produces the same application/problem+json shape with a machine-readable error code the client can branch on reliably.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tests, all passing, all running against a real PostgreSQL instance via Testcontainers.</a:t>
            </a:r>
          </a:p>
          <a:p/>
          <a:p>
            <a:r>
              <a:t>Using a real database is not optional here. The concurrency guarantees rely on PostgreSQL row locks and the xmin concurrency token. An in-memory provider doesn't support FOR UPDATE or system columns, so any test using in-memory for the concurrency case would be testing nothing meaningful.</a:t>
            </a:r>
          </a:p>
          <a:p/>
          <a:p>
            <a:r>
              <a:t>The concurrency test is the headline: 100 concurrent transfers against a wallet funded for exactly 50. The test asserts exactly 50 Created and 50 UnprocessableEntity responses, the source balance is zero, and the destination holds exactly the right amount. No double-spends, no negative balance. Every run.</a:t>
            </a:r>
          </a:p>
          <a:p/>
          <a:p>
            <a:r>
              <a:t>The idempotency concurrency test fires the same key 25 times simultaneously. Every response is 201 (either the original or a replay), and the money moves exactly once.</a:t>
            </a:r>
          </a:p>
          <a:p/>
          <a:p>
            <a:r>
              <a:t>Error handling tests verify that every error path returns application/problem+json with consistent structure, including field-level validation errors with a lower-cased field name map.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explicitly asks us to use AI tools and demonstrate judgment in catching where they're wrong.</a:t>
            </a:r>
          </a:p>
          <a:p/>
          <a:p>
            <a:r>
              <a:t>All three bugs would have shipped real defects in a production financial system.</a:t>
            </a:r>
          </a:p>
          <a:p/>
          <a:p>
            <a:r>
              <a:t>Bug 1 is a correctness failure — every API call would return 500 in production despite passing compile and unit tests.</a:t>
            </a:r>
          </a:p>
          <a:p/>
          <a:p>
            <a:r>
              <a:t>Bug 2 is the most serious: the SELECT FOR UPDATE lock worked syntactically, but by using SELECT *, the xmin concurrency token was silently stripped from the result. The row lock still worked (money wouldn't go negative), but the xmin backstop — the guard against any unlocked code path — was gone without any visible error. This is exactly the kind of subtle financial safety defect that's hard to catch without running against a real database.</a:t>
            </a:r>
          </a:p>
          <a:p/>
          <a:p>
            <a:r>
              <a:t>Bug 3 was caught specifically by the concurrency load test. If I hadn't written a test that asserted an exact number of successes, the rate limiter bug would have been invisible — the endpoint would have appeared to work, just slower than expected under concurrent load.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brief says 'strong candidates will notice where these constraints matter'. Here is exactly where each one attaches to this ledger.</a:t>
            </a:r>
          </a:p>
          <a:p/>
          <a:p>
            <a:r>
              <a:t>The most important one for the panel to see is the KYC tier gap. The daily limit is currently a global constant. Under CBN's tiered KYC framework, that limit is a function of the customer's verification tier. This is a one-field change to the Wallet entity plus a resolver function, but it's a meaningful regulatory gap.</a:t>
            </a:r>
          </a:p>
          <a:p/>
          <a:p>
            <a:r>
              <a:t>The NIP rail point is architectural: inbound credits need idempotency keyed on NIBSS session IDs, and outbound transfers to other banks need a pending state and a settlement webhook. The outbox pattern I've already built is exactly the right foundation for the settlement callback.</a:t>
            </a:r>
          </a:p>
          <a:p/>
          <a:p>
            <a:r>
              <a:t>The NDPA point is subtle: the audit log is append-only and immutable, which is great for compliance, but conflicts with data-subject erasure rights under NDPA. The resolution is to store only customer IDs (not raw PII), which this schema already does.</a:t>
            </a:r>
          </a:p>
          <a:p/>
          <a:p>
            <a:r>
              <a:t>I deliberately deferred these as documented assumptions in the README, and I'm happy to discuss the implementation of any of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running service looks like. The web console at localhost:8080 drives all the API endpoints — the stat cards show live data from PostgreSQL, the transfer panel has the idempotency key pre-generated, and the audit trail shows the hash chain.</a:t>
            </a:r>
          </a:p>
          <a:p/>
          <a:p>
            <a:r>
              <a:t>The full walkthrough is available at the technical interview where I'll demo it live, but for this session I want to focus on two trade-offs I made deliberately.</a:t>
            </a:r>
          </a:p>
          <a:p/>
          <a:p>
            <a:r>
              <a:t>First, pessimistic row locks over optimistic retry loops. Both can be correct, but under high contention pessimistic locking is more predictable — retries under optimistic concurrency can cause a stampede where many requests retry simultaneously and compete again. For a money service, I'd rather have requests queue up cleanly than cascade through retry storms.</a:t>
            </a:r>
          </a:p>
          <a:p/>
          <a:p>
            <a:r>
              <a:t>Second, computing the daily limit from transaction history rather than maintaining a counter. This is slightly more expensive per transfer (an extra SUM query), but it's always consistent and needs no reset job or scheduled task. There's no risk of a crash leaving the counter in an incorrect state.</a:t>
            </a:r>
          </a:p>
          <a:p/>
          <a:p>
            <a:r>
              <a:t>The biggest honest gap is reversals and the KYC-driven daily limit. Those are the next things I'd build, and I've documented both in the README as explicit deferred scope.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41B52"/>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731520"/>
            <a:ext cx="1280160" cy="1280160"/>
          </a:xfrm>
          <a:prstGeom prst="roundRect">
            <a:avLst>
              <a:gd name="adj" fmla="val 30000"/>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731520"/>
            <a:ext cx="1280160" cy="1280160"/>
          </a:xfrm>
          <a:prstGeom prst="rect">
            <a:avLst/>
          </a:prstGeom>
          <a:noFill/>
        </p:spPr>
        <p:txBody>
          <a:bodyPr wrap="square">
            <a:spAutoFit/>
          </a:bodyPr>
          <a:lstStyle/>
          <a:p>
            <a:pPr algn="ctr"/>
            <a:r>
              <a:rPr sz="5200" b="0" i="0">
                <a:solidFill>
                  <a:srgbClr val="FFFFFF"/>
                </a:solidFill>
              </a:rPr>
              <a:t>🐘</a:t>
            </a:r>
          </a:p>
        </p:txBody>
      </p:sp>
      <p:sp>
        <p:nvSpPr>
          <p:cNvPr id="6" name="TextBox 5"/>
          <p:cNvSpPr txBox="1"/>
          <p:nvPr/>
        </p:nvSpPr>
        <p:spPr>
          <a:xfrm>
            <a:off x="1965960" y="777240"/>
            <a:ext cx="9144000" cy="640080"/>
          </a:xfrm>
          <a:prstGeom prst="rect">
            <a:avLst/>
          </a:prstGeom>
          <a:noFill/>
        </p:spPr>
        <p:txBody>
          <a:bodyPr wrap="square">
            <a:spAutoFit/>
          </a:bodyPr>
          <a:lstStyle/>
          <a:p>
            <a:pPr algn="l"/>
            <a:r>
              <a:rPr sz="2200" b="1" i="0">
                <a:solidFill>
                  <a:srgbClr val="F2C94C"/>
                </a:solidFill>
              </a:rPr>
              <a:t>FirstBank  NovaPay</a:t>
            </a:r>
          </a:p>
        </p:txBody>
      </p:sp>
      <p:sp>
        <p:nvSpPr>
          <p:cNvPr id="7" name="TextBox 6"/>
          <p:cNvSpPr txBox="1"/>
          <p:nvPr/>
        </p:nvSpPr>
        <p:spPr>
          <a:xfrm>
            <a:off x="1965960" y="1325880"/>
            <a:ext cx="9601200" cy="1280160"/>
          </a:xfrm>
          <a:prstGeom prst="rect">
            <a:avLst/>
          </a:prstGeom>
          <a:noFill/>
        </p:spPr>
        <p:txBody>
          <a:bodyPr wrap="square">
            <a:spAutoFit/>
          </a:bodyPr>
          <a:lstStyle/>
          <a:p>
            <a:pPr algn="l"/>
            <a:r>
              <a:rPr sz="4400" b="1" i="0">
                <a:solidFill>
                  <a:srgbClr val="FFFFFF"/>
                </a:solidFill>
              </a:rPr>
              <a:t>NovaWallet Ledger Service</a:t>
            </a:r>
          </a:p>
        </p:txBody>
      </p:sp>
      <p:sp>
        <p:nvSpPr>
          <p:cNvPr id="8" name="TextBox 7"/>
          <p:cNvSpPr txBox="1"/>
          <p:nvPr/>
        </p:nvSpPr>
        <p:spPr>
          <a:xfrm>
            <a:off x="1965960" y="2560320"/>
            <a:ext cx="9144000" cy="502920"/>
          </a:xfrm>
          <a:prstGeom prst="rect">
            <a:avLst/>
          </a:prstGeom>
          <a:noFill/>
        </p:spPr>
        <p:txBody>
          <a:bodyPr wrap="square">
            <a:spAutoFit/>
          </a:bodyPr>
          <a:lstStyle/>
          <a:p>
            <a:pPr algn="l"/>
            <a:r>
              <a:rPr sz="1600" b="0" i="0">
                <a:solidFill>
                  <a:srgbClr val="5B6478"/>
                </a:solidFill>
              </a:rPr>
              <a:t>Case Study  ·  Backend Engineer Assessment  ·  .NET 9 / C#</a:t>
            </a:r>
          </a:p>
        </p:txBody>
      </p:sp>
      <p:sp>
        <p:nvSpPr>
          <p:cNvPr id="9" name="Rectangle 8"/>
          <p:cNvSpPr/>
          <p:nvPr/>
        </p:nvSpPr>
        <p:spPr>
          <a:xfrm>
            <a:off x="502920" y="3246120"/>
            <a:ext cx="11155680" cy="27432"/>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3429000"/>
            <a:ext cx="3566160" cy="731520"/>
          </a:xfrm>
          <a:prstGeom prst="roundRect">
            <a:avLst>
              <a:gd name="adj" fmla="val 30000"/>
            </a:avLst>
          </a:prstGeom>
          <a:solidFill>
            <a:srgbClr val="012169"/>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3429000"/>
            <a:ext cx="3566160" cy="731520"/>
          </a:xfrm>
          <a:prstGeom prst="rect">
            <a:avLst/>
          </a:prstGeom>
          <a:noFill/>
        </p:spPr>
        <p:txBody>
          <a:bodyPr wrap="square">
            <a:spAutoFit/>
          </a:bodyPr>
          <a:lstStyle/>
          <a:p>
            <a:pPr algn="ctr"/>
            <a:r>
              <a:rPr sz="1400" b="1" i="0">
                <a:solidFill>
                  <a:srgbClr val="FFFFFF"/>
                </a:solidFill>
              </a:rPr>
              <a:t>⚡  Concurrency-safe transfers</a:t>
            </a:r>
          </a:p>
        </p:txBody>
      </p:sp>
      <p:sp>
        <p:nvSpPr>
          <p:cNvPr id="12" name="Rounded Rectangle 11"/>
          <p:cNvSpPr/>
          <p:nvPr/>
        </p:nvSpPr>
        <p:spPr>
          <a:xfrm>
            <a:off x="4297680" y="3429000"/>
            <a:ext cx="3566160" cy="731520"/>
          </a:xfrm>
          <a:prstGeom prst="roundRect">
            <a:avLst>
              <a:gd name="adj" fmla="val 30000"/>
            </a:avLst>
          </a:prstGeom>
          <a:solidFill>
            <a:srgbClr val="012169"/>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3429000"/>
            <a:ext cx="3566160" cy="731520"/>
          </a:xfrm>
          <a:prstGeom prst="rect">
            <a:avLst/>
          </a:prstGeom>
          <a:noFill/>
        </p:spPr>
        <p:txBody>
          <a:bodyPr wrap="square">
            <a:spAutoFit/>
          </a:bodyPr>
          <a:lstStyle/>
          <a:p>
            <a:pPr algn="ctr"/>
            <a:r>
              <a:rPr sz="1400" b="1" i="0">
                <a:solidFill>
                  <a:srgbClr val="FFFFFF"/>
                </a:solidFill>
              </a:rPr>
              <a:t>🔒  JWT auth · RFC 7807 errors</a:t>
            </a:r>
          </a:p>
        </p:txBody>
      </p:sp>
      <p:sp>
        <p:nvSpPr>
          <p:cNvPr id="14" name="Rounded Rectangle 13"/>
          <p:cNvSpPr/>
          <p:nvPr/>
        </p:nvSpPr>
        <p:spPr>
          <a:xfrm>
            <a:off x="8092440" y="3429000"/>
            <a:ext cx="3566160" cy="731520"/>
          </a:xfrm>
          <a:prstGeom prst="roundRect">
            <a:avLst>
              <a:gd name="adj" fmla="val 30000"/>
            </a:avLst>
          </a:prstGeom>
          <a:solidFill>
            <a:srgbClr val="012169"/>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429000"/>
            <a:ext cx="3566160" cy="731520"/>
          </a:xfrm>
          <a:prstGeom prst="rect">
            <a:avLst/>
          </a:prstGeom>
          <a:noFill/>
        </p:spPr>
        <p:txBody>
          <a:bodyPr wrap="square">
            <a:spAutoFit/>
          </a:bodyPr>
          <a:lstStyle/>
          <a:p>
            <a:pPr algn="ctr"/>
            <a:r>
              <a:rPr sz="1400" b="1" i="0">
                <a:solidFill>
                  <a:srgbClr val="FFFFFF"/>
                </a:solidFill>
              </a:rPr>
              <a:t>🐳  docker compose up  →  ready</a:t>
            </a:r>
          </a:p>
        </p:txBody>
      </p:sp>
      <p:sp>
        <p:nvSpPr>
          <p:cNvPr id="16" name="TextBox 15"/>
          <p:cNvSpPr txBox="1"/>
          <p:nvPr/>
        </p:nvSpPr>
        <p:spPr>
          <a:xfrm>
            <a:off x="502920" y="6217920"/>
            <a:ext cx="10972800" cy="457200"/>
          </a:xfrm>
          <a:prstGeom prst="rect">
            <a:avLst/>
          </a:prstGeom>
          <a:noFill/>
        </p:spPr>
        <p:txBody>
          <a:bodyPr wrap="square">
            <a:spAutoFit/>
          </a:bodyPr>
          <a:lstStyle/>
          <a:p>
            <a:pPr algn="l"/>
            <a:r>
              <a:rPr sz="1200" b="0" i="0">
                <a:solidFill>
                  <a:srgbClr val="5B6478"/>
                </a:solidFill>
              </a:rPr>
              <a:t>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12169"/>
        </a:solidFill>
        <a:effectLst/>
      </p:bgPr>
    </p:bg>
    <p:spTree>
      <p:nvGrpSpPr>
        <p:cNvPr id="1" name=""/>
        <p:cNvGrpSpPr/>
        <p:nvPr/>
      </p:nvGrpSpPr>
      <p:grpSpPr/>
      <p:sp>
        <p:nvSpPr>
          <p:cNvPr id="2" name="Rectangle 1"/>
          <p:cNvSpPr/>
          <p:nvPr/>
        </p:nvSpPr>
        <p:spPr>
          <a:xfrm>
            <a:off x="0" y="64008"/>
            <a:ext cx="12188952" cy="50292"/>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155680" cy="822960"/>
          </a:xfrm>
          <a:prstGeom prst="rect">
            <a:avLst/>
          </a:prstGeom>
          <a:noFill/>
        </p:spPr>
        <p:txBody>
          <a:bodyPr wrap="square">
            <a:spAutoFit/>
          </a:bodyPr>
          <a:lstStyle/>
          <a:p>
            <a:pPr algn="l"/>
            <a:r>
              <a:rPr sz="3600" b="1" i="0">
                <a:solidFill>
                  <a:srgbClr val="D4A017"/>
                </a:solidFill>
              </a:rPr>
              <a:t>The Problem</a:t>
            </a:r>
          </a:p>
        </p:txBody>
      </p:sp>
      <p:sp>
        <p:nvSpPr>
          <p:cNvPr id="4" name="TextBox 3"/>
          <p:cNvSpPr txBox="1"/>
          <p:nvPr/>
        </p:nvSpPr>
        <p:spPr>
          <a:xfrm>
            <a:off x="502920" y="896112"/>
            <a:ext cx="11155680" cy="411480"/>
          </a:xfrm>
          <a:prstGeom prst="rect">
            <a:avLst/>
          </a:prstGeom>
          <a:noFill/>
        </p:spPr>
        <p:txBody>
          <a:bodyPr wrap="square">
            <a:spAutoFit/>
          </a:bodyPr>
          <a:lstStyle/>
          <a:p>
            <a:pPr algn="l"/>
            <a:r>
              <a:rPr sz="1300" b="0" i="0">
                <a:solidFill>
                  <a:srgbClr val="5B6478"/>
                </a:solidFill>
              </a:rPr>
              <a:t>One component that must never lose, duplicate, or miscount money</a:t>
            </a:r>
          </a:p>
        </p:txBody>
      </p:sp>
      <p:sp>
        <p:nvSpPr>
          <p:cNvPr id="5" name="Rounded Rectangle 4"/>
          <p:cNvSpPr/>
          <p:nvPr/>
        </p:nvSpPr>
        <p:spPr>
          <a:xfrm>
            <a:off x="365760" y="1417320"/>
            <a:ext cx="5303520" cy="507492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508760"/>
            <a:ext cx="4937760" cy="457200"/>
          </a:xfrm>
          <a:prstGeom prst="rect">
            <a:avLst/>
          </a:prstGeom>
          <a:noFill/>
        </p:spPr>
        <p:txBody>
          <a:bodyPr wrap="square">
            <a:spAutoFit/>
          </a:bodyPr>
          <a:lstStyle/>
          <a:p>
            <a:pPr algn="l"/>
            <a:r>
              <a:rPr sz="1400" b="1" i="0">
                <a:solidFill>
                  <a:srgbClr val="D4A017"/>
                </a:solidFill>
              </a:rPr>
              <a:t>What we're building</a:t>
            </a:r>
          </a:p>
        </p:txBody>
      </p:sp>
      <p:sp>
        <p:nvSpPr>
          <p:cNvPr id="7" name="TextBox 6"/>
          <p:cNvSpPr txBox="1"/>
          <p:nvPr/>
        </p:nvSpPr>
        <p:spPr>
          <a:xfrm>
            <a:off x="457200" y="1965960"/>
            <a:ext cx="5120640" cy="4297680"/>
          </a:xfrm>
          <a:prstGeom prst="rect">
            <a:avLst/>
          </a:prstGeom>
          <a:noFill/>
        </p:spPr>
        <p:txBody>
          <a:bodyPr wrap="square">
            <a:spAutoFit/>
          </a:bodyPr>
          <a:lstStyle/>
          <a:p>
            <a:pPr algn="l">
              <a:spcBef>
                <a:spcPts val="400"/>
              </a:spcBef>
            </a:pPr>
            <a:r>
              <a:rPr sz="1400" b="1" i="0">
                <a:solidFill>
                  <a:srgbClr val="FFFFFF"/>
                </a:solidFill>
              </a:rPr>
              <a:t>▸  Create &amp; manage NGN wallets</a:t>
            </a:r>
          </a:p>
          <a:p>
            <a:pPr algn="l">
              <a:spcBef>
                <a:spcPts val="400"/>
              </a:spcBef>
            </a:pPr>
            <a:r>
              <a:rPr sz="1400" b="0" i="0">
                <a:solidFill>
                  <a:srgbClr val="F7F5EF"/>
                </a:solidFill>
              </a:rPr>
              <a:t>▸  Credit wallet — inbound NIP simulation</a:t>
            </a:r>
          </a:p>
          <a:p>
            <a:pPr algn="l">
              <a:spcBef>
                <a:spcPts val="400"/>
              </a:spcBef>
            </a:pPr>
            <a:r>
              <a:rPr sz="1400" b="1" i="0">
                <a:solidFill>
                  <a:srgbClr val="F2C94C"/>
                </a:solidFill>
              </a:rPr>
              <a:t>▸  Atomic P2P transfer with concurrency safety</a:t>
            </a:r>
          </a:p>
          <a:p>
            <a:pPr algn="l">
              <a:spcBef>
                <a:spcPts val="400"/>
              </a:spcBef>
            </a:pPr>
            <a:r>
              <a:rPr sz="1400" b="1" i="0">
                <a:solidFill>
                  <a:srgbClr val="F2C94C"/>
                </a:solidFill>
              </a:rPr>
              <a:t>▸  Idempotency — safe retries, no double-spend</a:t>
            </a:r>
          </a:p>
          <a:p>
            <a:pPr algn="l">
              <a:spcBef>
                <a:spcPts val="400"/>
              </a:spcBef>
            </a:pPr>
            <a:r>
              <a:rPr sz="1400" b="0" i="0">
                <a:solidFill>
                  <a:srgbClr val="F7F5EF"/>
                </a:solidFill>
              </a:rPr>
              <a:t>▸  Paginated statement &amp; audit trail</a:t>
            </a:r>
          </a:p>
          <a:p>
            <a:pPr algn="l">
              <a:spcBef>
                <a:spcPts val="400"/>
              </a:spcBef>
            </a:pPr>
            <a:r>
              <a:rPr sz="1400" b="0" i="0">
                <a:solidFill>
                  <a:srgbClr val="F7F5EF"/>
                </a:solidFill>
              </a:rPr>
              <a:t>▸  Daily outbound limit (₦500k, WAT midnight reset)</a:t>
            </a:r>
          </a:p>
          <a:p>
            <a:pPr algn="l">
              <a:spcBef>
                <a:spcPts val="400"/>
              </a:spcBef>
            </a:pPr>
            <a:r>
              <a:rPr sz="1400" b="0" i="0">
                <a:solidFill>
                  <a:srgbClr val="F7F5EF"/>
                </a:solidFill>
              </a:rPr>
              <a:t>▸  JWT bearer auth on every endpoint</a:t>
            </a:r>
          </a:p>
          <a:p>
            <a:pPr algn="l">
              <a:spcBef>
                <a:spcPts val="400"/>
              </a:spcBef>
            </a:pPr>
            <a:r>
              <a:rPr sz="1400" b="0" i="0">
                <a:solidFill>
                  <a:srgbClr val="F7F5EF"/>
                </a:solidFill>
              </a:rPr>
              <a:t>▸  Consistent RFC 7807 error responses</a:t>
            </a:r>
          </a:p>
        </p:txBody>
      </p:sp>
      <p:sp>
        <p:nvSpPr>
          <p:cNvPr id="8" name="Rounded Rectangle 7"/>
          <p:cNvSpPr/>
          <p:nvPr/>
        </p:nvSpPr>
        <p:spPr>
          <a:xfrm>
            <a:off x="5989320" y="1417320"/>
            <a:ext cx="5806440" cy="507492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508760"/>
            <a:ext cx="5486400" cy="457200"/>
          </a:xfrm>
          <a:prstGeom prst="rect">
            <a:avLst/>
          </a:prstGeom>
          <a:noFill/>
        </p:spPr>
        <p:txBody>
          <a:bodyPr wrap="square">
            <a:spAutoFit/>
          </a:bodyPr>
          <a:lstStyle/>
          <a:p>
            <a:pPr algn="l"/>
            <a:r>
              <a:rPr sz="1400" b="1" i="0">
                <a:solidFill>
                  <a:srgbClr val="D4A017"/>
                </a:solidFill>
              </a:rPr>
              <a:t>Hard constraints (non-negotiable)</a:t>
            </a:r>
          </a:p>
        </p:txBody>
      </p:sp>
      <p:sp>
        <p:nvSpPr>
          <p:cNvPr id="10" name="TextBox 9"/>
          <p:cNvSpPr txBox="1"/>
          <p:nvPr/>
        </p:nvSpPr>
        <p:spPr>
          <a:xfrm>
            <a:off x="6080760" y="1965960"/>
            <a:ext cx="5577840" cy="4297680"/>
          </a:xfrm>
          <a:prstGeom prst="rect">
            <a:avLst/>
          </a:prstGeom>
          <a:noFill/>
        </p:spPr>
        <p:txBody>
          <a:bodyPr wrap="square">
            <a:spAutoFit/>
          </a:bodyPr>
          <a:lstStyle/>
          <a:p>
            <a:pPr algn="l">
              <a:spcBef>
                <a:spcPts val="400"/>
              </a:spcBef>
            </a:pPr>
            <a:r>
              <a:rPr sz="1400" b="1" i="0">
                <a:solidFill>
                  <a:srgbClr val="F2C94C"/>
                </a:solidFill>
              </a:rPr>
              <a:t>▸  All amounts stored as long in kobo — no float/double</a:t>
            </a:r>
          </a:p>
          <a:p>
            <a:pPr algn="l">
              <a:spcBef>
                <a:spcPts val="400"/>
              </a:spcBef>
            </a:pPr>
            <a:r>
              <a:rPr sz="1400" b="1" i="0">
                <a:solidFill>
                  <a:srgbClr val="F2C94C"/>
                </a:solidFill>
              </a:rPr>
              <a:t>▸  Balance must NEVER go negative under concurrency</a:t>
            </a:r>
          </a:p>
          <a:p>
            <a:pPr algn="l">
              <a:spcBef>
                <a:spcPts val="400"/>
              </a:spcBef>
            </a:pPr>
            <a:r>
              <a:rPr sz="1400" b="0" i="0">
                <a:solidFill>
                  <a:srgbClr val="F7F5EF"/>
                </a:solidFill>
              </a:rPr>
              <a:t>▸  JWT bearer check on all business endpoints</a:t>
            </a:r>
          </a:p>
          <a:p>
            <a:pPr algn="l">
              <a:spcBef>
                <a:spcPts val="400"/>
              </a:spcBef>
            </a:pPr>
            <a:r>
              <a:rPr sz="1400" b="0" i="0">
                <a:solidFill>
                  <a:srgbClr val="F7F5EF"/>
                </a:solidFill>
              </a:rPr>
              <a:t>▸  RFC 7807 Problem Details on every error</a:t>
            </a:r>
          </a:p>
          <a:p>
            <a:pPr algn="l">
              <a:spcBef>
                <a:spcPts val="400"/>
              </a:spcBef>
            </a:pPr>
            <a:r>
              <a:rPr sz="1400" b="0" i="0">
                <a:solidFill>
                  <a:srgbClr val="F7F5EF"/>
                </a:solidFill>
              </a:rPr>
              <a:t>▸  docker compose up — single command startup</a:t>
            </a:r>
          </a:p>
          <a:p>
            <a:pPr algn="l">
              <a:spcBef>
                <a:spcPts val="400"/>
              </a:spcBef>
            </a:pPr>
            <a:r>
              <a:rPr sz="1400" b="0" i="0">
                <a:solidFill>
                  <a:srgbClr val="FFFFFF"/>
                </a:solidFill>
              </a:rPr>
              <a:t>▸  </a:t>
            </a:r>
          </a:p>
          <a:p>
            <a:pPr algn="l">
              <a:spcBef>
                <a:spcPts val="400"/>
              </a:spcBef>
            </a:pPr>
            <a:r>
              <a:rPr sz="1400" b="1" i="0">
                <a:solidFill>
                  <a:srgbClr val="D4A017"/>
                </a:solidFill>
              </a:rPr>
              <a:t>▸  Stretch goals (all implemented):</a:t>
            </a:r>
          </a:p>
          <a:p>
            <a:pPr algn="l">
              <a:spcBef>
                <a:spcPts val="400"/>
              </a:spcBef>
            </a:pPr>
            <a:r>
              <a:rPr sz="1400" b="0" i="0">
                <a:solidFill>
                  <a:srgbClr val="F7F5EF"/>
                </a:solidFill>
              </a:rPr>
              <a:t>▸  Rate limiting · Outbox pattern · Correlation IDs</a:t>
            </a:r>
          </a:p>
          <a:p>
            <a:pPr algn="l">
              <a:spcBef>
                <a:spcPts val="400"/>
              </a:spcBef>
            </a:pPr>
            <a:r>
              <a:rPr sz="1400" b="0" i="0">
                <a:solidFill>
                  <a:srgbClr val="F7F5EF"/>
                </a:solidFill>
              </a:rPr>
              <a:t>▸  Health/readiness endpoints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12169"/>
        </a:solidFill>
        <a:effectLst/>
      </p:bgPr>
    </p:bg>
    <p:spTree>
      <p:nvGrpSpPr>
        <p:cNvPr id="1" name=""/>
        <p:cNvGrpSpPr/>
        <p:nvPr/>
      </p:nvGrpSpPr>
      <p:grpSpPr/>
      <p:sp>
        <p:nvSpPr>
          <p:cNvPr id="2" name="Rectangle 1"/>
          <p:cNvSpPr/>
          <p:nvPr/>
        </p:nvSpPr>
        <p:spPr>
          <a:xfrm>
            <a:off x="0" y="64008"/>
            <a:ext cx="12188952" cy="50292"/>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155680" cy="822960"/>
          </a:xfrm>
          <a:prstGeom prst="rect">
            <a:avLst/>
          </a:prstGeom>
          <a:noFill/>
        </p:spPr>
        <p:txBody>
          <a:bodyPr wrap="square">
            <a:spAutoFit/>
          </a:bodyPr>
          <a:lstStyle/>
          <a:p>
            <a:pPr algn="l"/>
            <a:r>
              <a:rPr sz="3600" b="1" i="0">
                <a:solidFill>
                  <a:srgbClr val="D4A017"/>
                </a:solidFill>
              </a:rPr>
              <a:t>Architecture</a:t>
            </a:r>
          </a:p>
        </p:txBody>
      </p:sp>
      <p:sp>
        <p:nvSpPr>
          <p:cNvPr id="4" name="TextBox 3"/>
          <p:cNvSpPr txBox="1"/>
          <p:nvPr/>
        </p:nvSpPr>
        <p:spPr>
          <a:xfrm>
            <a:off x="502920" y="896112"/>
            <a:ext cx="11155680" cy="411480"/>
          </a:xfrm>
          <a:prstGeom prst="rect">
            <a:avLst/>
          </a:prstGeom>
          <a:noFill/>
        </p:spPr>
        <p:txBody>
          <a:bodyPr wrap="square">
            <a:spAutoFit/>
          </a:bodyPr>
          <a:lstStyle/>
          <a:p>
            <a:pPr algn="l"/>
            <a:r>
              <a:rPr sz="1300" b="0" i="0">
                <a:solidFill>
                  <a:srgbClr val="5B6478"/>
                </a:solidFill>
              </a:rPr>
              <a:t>Clean layering — controllers stay thin, all money logic in one place</a:t>
            </a:r>
          </a:p>
        </p:txBody>
      </p:sp>
      <p:pic>
        <p:nvPicPr>
          <p:cNvPr id="5" name="Picture 4" descr="architecture.png"/>
          <p:cNvPicPr>
            <a:picLocks noChangeAspect="1"/>
          </p:cNvPicPr>
          <p:nvPr/>
        </p:nvPicPr>
        <p:blipFill>
          <a:blip r:embed="rId2"/>
          <a:stretch>
            <a:fillRect/>
          </a:stretch>
        </p:blipFill>
        <p:spPr>
          <a:xfrm>
            <a:off x="228600" y="1325880"/>
            <a:ext cx="11750040" cy="667286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12169"/>
        </a:solidFill>
        <a:effectLst/>
      </p:bgPr>
    </p:bg>
    <p:spTree>
      <p:nvGrpSpPr>
        <p:cNvPr id="1" name=""/>
        <p:cNvGrpSpPr/>
        <p:nvPr/>
      </p:nvGrpSpPr>
      <p:grpSpPr/>
      <p:sp>
        <p:nvSpPr>
          <p:cNvPr id="2" name="Rectangle 1"/>
          <p:cNvSpPr/>
          <p:nvPr/>
        </p:nvSpPr>
        <p:spPr>
          <a:xfrm>
            <a:off x="0" y="64008"/>
            <a:ext cx="12188952" cy="50292"/>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155680" cy="822960"/>
          </a:xfrm>
          <a:prstGeom prst="rect">
            <a:avLst/>
          </a:prstGeom>
          <a:noFill/>
        </p:spPr>
        <p:txBody>
          <a:bodyPr wrap="square">
            <a:spAutoFit/>
          </a:bodyPr>
          <a:lstStyle/>
          <a:p>
            <a:pPr algn="l"/>
            <a:r>
              <a:rPr sz="3600" b="1" i="0">
                <a:solidFill>
                  <a:srgbClr val="D4A017"/>
                </a:solidFill>
              </a:rPr>
              <a:t>Money Integrity</a:t>
            </a:r>
          </a:p>
        </p:txBody>
      </p:sp>
      <p:sp>
        <p:nvSpPr>
          <p:cNvPr id="4" name="TextBox 3"/>
          <p:cNvSpPr txBox="1"/>
          <p:nvPr/>
        </p:nvSpPr>
        <p:spPr>
          <a:xfrm>
            <a:off x="502920" y="896112"/>
            <a:ext cx="11155680" cy="411480"/>
          </a:xfrm>
          <a:prstGeom prst="rect">
            <a:avLst/>
          </a:prstGeom>
          <a:noFill/>
        </p:spPr>
        <p:txBody>
          <a:bodyPr wrap="square">
            <a:spAutoFit/>
          </a:bodyPr>
          <a:lstStyle/>
          <a:p>
            <a:pPr algn="l"/>
            <a:r>
              <a:rPr sz="1300" b="0" i="0">
                <a:solidFill>
                  <a:srgbClr val="5B6478"/>
                </a:solidFill>
              </a:rPr>
              <a:t>The foundation everything else builds on</a:t>
            </a:r>
          </a:p>
        </p:txBody>
      </p:sp>
      <p:sp>
        <p:nvSpPr>
          <p:cNvPr id="5" name="Rounded Rectangle 4"/>
          <p:cNvSpPr/>
          <p:nvPr/>
        </p:nvSpPr>
        <p:spPr>
          <a:xfrm>
            <a:off x="365760" y="1417320"/>
            <a:ext cx="11430000" cy="960120"/>
          </a:xfrm>
          <a:prstGeom prst="roundRect">
            <a:avLst>
              <a:gd name="adj" fmla="val 30000"/>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63040"/>
            <a:ext cx="11155680" cy="822960"/>
          </a:xfrm>
          <a:prstGeom prst="rect">
            <a:avLst/>
          </a:prstGeom>
          <a:noFill/>
        </p:spPr>
        <p:txBody>
          <a:bodyPr wrap="square">
            <a:spAutoFit/>
          </a:bodyPr>
          <a:lstStyle/>
          <a:p>
            <a:pPr algn="ctr"/>
            <a:r>
              <a:rPr sz="1900" b="1" i="0">
                <a:solidFill>
                  <a:srgbClr val="012169"/>
                </a:solidFill>
              </a:rPr>
              <a:t>Every kobo is a  long  integer.  No float.  No decimal.  No rounding drift — ever.</a:t>
            </a:r>
          </a:p>
        </p:txBody>
      </p:sp>
      <p:sp>
        <p:nvSpPr>
          <p:cNvPr id="7" name="Rounded Rectangle 6"/>
          <p:cNvSpPr/>
          <p:nvPr/>
        </p:nvSpPr>
        <p:spPr>
          <a:xfrm>
            <a:off x="365760" y="2606040"/>
            <a:ext cx="3657600" cy="393192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697480"/>
            <a:ext cx="3383280" cy="502920"/>
          </a:xfrm>
          <a:prstGeom prst="rect">
            <a:avLst/>
          </a:prstGeom>
          <a:noFill/>
        </p:spPr>
        <p:txBody>
          <a:bodyPr wrap="square">
            <a:spAutoFit/>
          </a:bodyPr>
          <a:lstStyle/>
          <a:p>
            <a:pPr algn="l"/>
            <a:r>
              <a:rPr sz="1600" b="1" i="0">
                <a:solidFill>
                  <a:srgbClr val="D4A017"/>
                </a:solidFill>
              </a:rPr>
              <a:t>Integer arithmetic</a:t>
            </a:r>
          </a:p>
        </p:txBody>
      </p:sp>
      <p:sp>
        <p:nvSpPr>
          <p:cNvPr id="9" name="TextBox 8"/>
          <p:cNvSpPr txBox="1"/>
          <p:nvPr/>
        </p:nvSpPr>
        <p:spPr>
          <a:xfrm>
            <a:off x="502920" y="3200400"/>
            <a:ext cx="3383280" cy="3200400"/>
          </a:xfrm>
          <a:prstGeom prst="rect">
            <a:avLst/>
          </a:prstGeom>
          <a:noFill/>
        </p:spPr>
        <p:txBody>
          <a:bodyPr wrap="square">
            <a:spAutoFit/>
          </a:bodyPr>
          <a:lstStyle/>
          <a:p>
            <a:pPr algn="l"/>
            <a:r>
              <a:rPr sz="1350" b="0" i="0">
                <a:solidFill>
                  <a:srgbClr val="FFFFFF"/>
                </a:solidFill>
              </a:rPr>
              <a:t>BalanceKobo stored as long
All amounts passed as long kobo
checked() catches overflow
1 NGN = 100 kobo exactly</a:t>
            </a:r>
          </a:p>
        </p:txBody>
      </p:sp>
      <p:sp>
        <p:nvSpPr>
          <p:cNvPr id="10" name="Rounded Rectangle 9"/>
          <p:cNvSpPr/>
          <p:nvPr/>
        </p:nvSpPr>
        <p:spPr>
          <a:xfrm>
            <a:off x="4297680" y="2606040"/>
            <a:ext cx="3657600" cy="393192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2697480"/>
            <a:ext cx="3383280" cy="502920"/>
          </a:xfrm>
          <a:prstGeom prst="rect">
            <a:avLst/>
          </a:prstGeom>
          <a:noFill/>
        </p:spPr>
        <p:txBody>
          <a:bodyPr wrap="square">
            <a:spAutoFit/>
          </a:bodyPr>
          <a:lstStyle/>
          <a:p>
            <a:pPr algn="l"/>
            <a:r>
              <a:rPr sz="1600" b="1" i="0">
                <a:solidFill>
                  <a:srgbClr val="D4A017"/>
                </a:solidFill>
              </a:rPr>
              <a:t>DB-level defence</a:t>
            </a:r>
          </a:p>
        </p:txBody>
      </p:sp>
      <p:sp>
        <p:nvSpPr>
          <p:cNvPr id="12" name="TextBox 11"/>
          <p:cNvSpPr txBox="1"/>
          <p:nvPr/>
        </p:nvSpPr>
        <p:spPr>
          <a:xfrm>
            <a:off x="4434840" y="3200400"/>
            <a:ext cx="3383280" cy="3200400"/>
          </a:xfrm>
          <a:prstGeom prst="rect">
            <a:avLst/>
          </a:prstGeom>
          <a:noFill/>
        </p:spPr>
        <p:txBody>
          <a:bodyPr wrap="square">
            <a:spAutoFit/>
          </a:bodyPr>
          <a:lstStyle/>
          <a:p>
            <a:pPr algn="l"/>
            <a:r>
              <a:rPr sz="1350" b="0" i="0">
                <a:solidFill>
                  <a:srgbClr val="FFFFFF"/>
                </a:solidFill>
              </a:rPr>
              <a:t>CHECK (BalanceKobo &gt;= 0)
Backstop independent of app logic
xmin row as concurrency token
Migration-verified at startup</a:t>
            </a:r>
          </a:p>
        </p:txBody>
      </p:sp>
      <p:sp>
        <p:nvSpPr>
          <p:cNvPr id="13" name="Rounded Rectangle 12"/>
          <p:cNvSpPr/>
          <p:nvPr/>
        </p:nvSpPr>
        <p:spPr>
          <a:xfrm>
            <a:off x="8229600" y="2606040"/>
            <a:ext cx="3657600" cy="3931920"/>
          </a:xfrm>
          <a:prstGeom prst="roundRect">
            <a:avLst>
              <a:gd name="adj" fmla="val 30000"/>
            </a:avLst>
          </a:prstGeom>
          <a:solidFill>
            <a:srgbClr val="041B52"/>
          </a:solidFill>
          <a:ln w="19050">
            <a:solidFill>
              <a:srgbClr val="F2C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6760" y="2697480"/>
            <a:ext cx="3383280" cy="502920"/>
          </a:xfrm>
          <a:prstGeom prst="rect">
            <a:avLst/>
          </a:prstGeom>
          <a:noFill/>
        </p:spPr>
        <p:txBody>
          <a:bodyPr wrap="square">
            <a:spAutoFit/>
          </a:bodyPr>
          <a:lstStyle/>
          <a:p>
            <a:pPr algn="l"/>
            <a:r>
              <a:rPr sz="1600" b="1" i="0">
                <a:solidFill>
                  <a:srgbClr val="F2C94C"/>
                </a:solidFill>
              </a:rPr>
              <a:t>No division without policy</a:t>
            </a:r>
          </a:p>
        </p:txBody>
      </p:sp>
      <p:sp>
        <p:nvSpPr>
          <p:cNvPr id="15" name="TextBox 14"/>
          <p:cNvSpPr txBox="1"/>
          <p:nvPr/>
        </p:nvSpPr>
        <p:spPr>
          <a:xfrm>
            <a:off x="8366760" y="3200400"/>
            <a:ext cx="3383280" cy="3200400"/>
          </a:xfrm>
          <a:prstGeom prst="rect">
            <a:avLst/>
          </a:prstGeom>
          <a:noFill/>
        </p:spPr>
        <p:txBody>
          <a:bodyPr wrap="square">
            <a:spAutoFit/>
          </a:bodyPr>
          <a:lstStyle/>
          <a:p>
            <a:pPr algn="l"/>
            <a:r>
              <a:rPr sz="1350" b="0" i="0">
                <a:solidFill>
                  <a:srgbClr val="FFFFFF"/>
                </a:solidFill>
              </a:rPr>
              <a:t>No fees / splits yet → no rounding
Future: document who absorbs
remainder kobo before merging
any feature that divides</a:t>
            </a:r>
          </a:p>
        </p:txBody>
      </p:sp>
      <p:sp>
        <p:nvSpPr>
          <p:cNvPr id="16" name="Rounded Rectangle 15"/>
          <p:cNvSpPr/>
          <p:nvPr/>
        </p:nvSpPr>
        <p:spPr>
          <a:xfrm>
            <a:off x="365760" y="6446520"/>
            <a:ext cx="11430000" cy="274320"/>
          </a:xfrm>
          <a:prstGeom prst="roundRect">
            <a:avLst>
              <a:gd name="adj" fmla="val 30000"/>
            </a:avLst>
          </a:prstGeom>
          <a:solidFill>
            <a:srgbClr val="0A1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446520"/>
            <a:ext cx="11155680" cy="301752"/>
          </a:xfrm>
          <a:prstGeom prst="rect">
            <a:avLst/>
          </a:prstGeom>
          <a:noFill/>
        </p:spPr>
        <p:txBody>
          <a:bodyPr wrap="square">
            <a:spAutoFit/>
          </a:bodyPr>
          <a:lstStyle/>
          <a:p>
            <a:pPr algn="l"/>
            <a:r>
              <a:rPr sz="1100" b="0" i="0">
                <a:solidFill>
                  <a:srgbClr val="F2C94C"/>
                </a:solidFill>
              </a:rPr>
              <a:t>from.BalanceKobo = fromBefore - req.AmountKobo;     to.BalanceKobo = checked(toBefore + req.AmountKobo);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12169"/>
        </a:solidFill>
        <a:effectLst/>
      </p:bgPr>
    </p:bg>
    <p:spTree>
      <p:nvGrpSpPr>
        <p:cNvPr id="1" name=""/>
        <p:cNvGrpSpPr/>
        <p:nvPr/>
      </p:nvGrpSpPr>
      <p:grpSpPr/>
      <p:sp>
        <p:nvSpPr>
          <p:cNvPr id="2" name="Rectangle 1"/>
          <p:cNvSpPr/>
          <p:nvPr/>
        </p:nvSpPr>
        <p:spPr>
          <a:xfrm>
            <a:off x="0" y="64008"/>
            <a:ext cx="12188952" cy="50292"/>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155680" cy="822960"/>
          </a:xfrm>
          <a:prstGeom prst="rect">
            <a:avLst/>
          </a:prstGeom>
          <a:noFill/>
        </p:spPr>
        <p:txBody>
          <a:bodyPr wrap="square">
            <a:spAutoFit/>
          </a:bodyPr>
          <a:lstStyle/>
          <a:p>
            <a:pPr algn="l"/>
            <a:r>
              <a:rPr sz="3600" b="1" i="0">
                <a:solidFill>
                  <a:srgbClr val="D4A017"/>
                </a:solidFill>
              </a:rPr>
              <a:t>Concurrency Safety</a:t>
            </a:r>
          </a:p>
        </p:txBody>
      </p:sp>
      <p:sp>
        <p:nvSpPr>
          <p:cNvPr id="4" name="TextBox 3"/>
          <p:cNvSpPr txBox="1"/>
          <p:nvPr/>
        </p:nvSpPr>
        <p:spPr>
          <a:xfrm>
            <a:off x="502920" y="896112"/>
            <a:ext cx="11155680" cy="411480"/>
          </a:xfrm>
          <a:prstGeom prst="rect">
            <a:avLst/>
          </a:prstGeom>
          <a:noFill/>
        </p:spPr>
        <p:txBody>
          <a:bodyPr wrap="square">
            <a:spAutoFit/>
          </a:bodyPr>
          <a:lstStyle/>
          <a:p>
            <a:pPr algn="l"/>
            <a:r>
              <a:rPr sz="1300" b="0" i="0">
                <a:solidFill>
                  <a:srgbClr val="5B6478"/>
                </a:solidFill>
              </a:rPr>
              <a:t>The hardest requirement — proven under load, not just in the happy path</a:t>
            </a:r>
          </a:p>
        </p:txBody>
      </p:sp>
      <p:sp>
        <p:nvSpPr>
          <p:cNvPr id="5" name="Rounded Rectangle 4"/>
          <p:cNvSpPr/>
          <p:nvPr/>
        </p:nvSpPr>
        <p:spPr>
          <a:xfrm>
            <a:off x="365760" y="1417320"/>
            <a:ext cx="11430000" cy="822960"/>
          </a:xfrm>
          <a:prstGeom prst="roundRect">
            <a:avLst>
              <a:gd name="adj" fmla="val 30000"/>
            </a:avLst>
          </a:prstGeom>
          <a:solidFill>
            <a:srgbClr val="1C8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63040"/>
            <a:ext cx="11155680" cy="777240"/>
          </a:xfrm>
          <a:prstGeom prst="rect">
            <a:avLst/>
          </a:prstGeom>
          <a:noFill/>
        </p:spPr>
        <p:txBody>
          <a:bodyPr wrap="square">
            <a:spAutoFit/>
          </a:bodyPr>
          <a:lstStyle/>
          <a:p>
            <a:pPr algn="ctr"/>
            <a:r>
              <a:rPr sz="1500" b="1" i="0">
                <a:solidFill>
                  <a:srgbClr val="FFFFFF"/>
                </a:solidFill>
              </a:rPr>
              <a:t>100 concurrent transfers against a wallet funded for exactly 50  →  50 succeed  ·  50 rejected  ·  balance drains to ₦0.00  ·  0 double-spends</a:t>
            </a:r>
          </a:p>
        </p:txBody>
      </p:sp>
      <p:sp>
        <p:nvSpPr>
          <p:cNvPr id="7" name="Rounded Rectangle 6"/>
          <p:cNvSpPr/>
          <p:nvPr/>
        </p:nvSpPr>
        <p:spPr>
          <a:xfrm>
            <a:off x="365760" y="2423160"/>
            <a:ext cx="5760720" cy="416052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514600"/>
            <a:ext cx="5486400" cy="411480"/>
          </a:xfrm>
          <a:prstGeom prst="rect">
            <a:avLst/>
          </a:prstGeom>
          <a:noFill/>
        </p:spPr>
        <p:txBody>
          <a:bodyPr wrap="square">
            <a:spAutoFit/>
          </a:bodyPr>
          <a:lstStyle/>
          <a:p>
            <a:pPr algn="l"/>
            <a:r>
              <a:rPr sz="1500" b="1" i="0">
                <a:solidFill>
                  <a:srgbClr val="D4A017"/>
                </a:solidFill>
              </a:rPr>
              <a:t>How it works</a:t>
            </a:r>
          </a:p>
        </p:txBody>
      </p:sp>
      <p:sp>
        <p:nvSpPr>
          <p:cNvPr id="9" name="TextBox 8"/>
          <p:cNvSpPr txBox="1"/>
          <p:nvPr/>
        </p:nvSpPr>
        <p:spPr>
          <a:xfrm>
            <a:off x="457200" y="2926080"/>
            <a:ext cx="5577840" cy="3474720"/>
          </a:xfrm>
          <a:prstGeom prst="rect">
            <a:avLst/>
          </a:prstGeom>
          <a:noFill/>
        </p:spPr>
        <p:txBody>
          <a:bodyPr wrap="square">
            <a:spAutoFit/>
          </a:bodyPr>
          <a:lstStyle/>
          <a:p>
            <a:pPr algn="l">
              <a:spcBef>
                <a:spcPts val="400"/>
              </a:spcBef>
            </a:pPr>
            <a:r>
              <a:rPr sz="1350" b="1" i="0">
                <a:solidFill>
                  <a:srgbClr val="F2C94C"/>
                </a:solidFill>
              </a:rPr>
              <a:t>▸  SELECT … FOR UPDATE on both wallet rows</a:t>
            </a:r>
          </a:p>
          <a:p>
            <a:pPr algn="l">
              <a:spcBef>
                <a:spcPts val="400"/>
              </a:spcBef>
            </a:pPr>
            <a:r>
              <a:rPr sz="1350" b="0" i="0">
                <a:solidFill>
                  <a:srgbClr val="F7F5EF"/>
                </a:solidFill>
              </a:rPr>
              <a:t>▸  Rows locked in wallet-id order (alphabetic Guid)</a:t>
            </a:r>
          </a:p>
          <a:p>
            <a:pPr algn="l">
              <a:spcBef>
                <a:spcPts val="100"/>
              </a:spcBef>
            </a:pPr>
            <a:r>
              <a:rPr sz="1150" b="0" i="1">
                <a:solidFill>
                  <a:srgbClr val="F7F5EF"/>
                </a:solidFill>
              </a:rPr>
              <a:t>    →  prevents deadlocks on opposing-direction transfers</a:t>
            </a:r>
          </a:p>
          <a:p>
            <a:pPr algn="l">
              <a:spcBef>
                <a:spcPts val="400"/>
              </a:spcBef>
            </a:pPr>
            <a:r>
              <a:rPr sz="1350" b="0" i="0">
                <a:solidFill>
                  <a:srgbClr val="F7F5EF"/>
                </a:solidFill>
              </a:rPr>
              <a:t>▸  ReadCommitted transaction holds both locks</a:t>
            </a:r>
          </a:p>
          <a:p>
            <a:pPr algn="l">
              <a:spcBef>
                <a:spcPts val="400"/>
              </a:spcBef>
            </a:pPr>
            <a:r>
              <a:rPr sz="1350" b="0" i="0">
                <a:solidFill>
                  <a:srgbClr val="F7F5EF"/>
                </a:solidFill>
              </a:rPr>
              <a:t>▸  Balance check + debit/credit + audit inside one tx</a:t>
            </a:r>
          </a:p>
          <a:p>
            <a:pPr algn="l">
              <a:spcBef>
                <a:spcPts val="400"/>
              </a:spcBef>
            </a:pPr>
            <a:r>
              <a:rPr sz="1350" b="1" i="0">
                <a:solidFill>
                  <a:srgbClr val="F2C94C"/>
                </a:solidFill>
              </a:rPr>
              <a:t>▸  DB CHECK (BalanceKobo &gt;= 0) as final backstop</a:t>
            </a:r>
          </a:p>
          <a:p>
            <a:pPr algn="l">
              <a:spcBef>
                <a:spcPts val="400"/>
              </a:spcBef>
            </a:pPr>
            <a:r>
              <a:rPr sz="1350" b="0" i="0">
                <a:solidFill>
                  <a:srgbClr val="F7F5EF"/>
                </a:solidFill>
              </a:rPr>
              <a:t>▸  xmin optimistic token catches any unlocked path</a:t>
            </a:r>
          </a:p>
        </p:txBody>
      </p:sp>
      <p:sp>
        <p:nvSpPr>
          <p:cNvPr id="10" name="Rounded Rectangle 9"/>
          <p:cNvSpPr/>
          <p:nvPr/>
        </p:nvSpPr>
        <p:spPr>
          <a:xfrm>
            <a:off x="6309360" y="2423160"/>
            <a:ext cx="5486400" cy="416052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514600"/>
            <a:ext cx="5212080" cy="411480"/>
          </a:xfrm>
          <a:prstGeom prst="rect">
            <a:avLst/>
          </a:prstGeom>
          <a:noFill/>
        </p:spPr>
        <p:txBody>
          <a:bodyPr wrap="square">
            <a:spAutoFit/>
          </a:bodyPr>
          <a:lstStyle/>
          <a:p>
            <a:pPr algn="l"/>
            <a:r>
              <a:rPr sz="1500" b="1" i="0">
                <a:solidFill>
                  <a:srgbClr val="D4A017"/>
                </a:solidFill>
              </a:rPr>
              <a:t>Why naive approaches fail</a:t>
            </a:r>
          </a:p>
        </p:txBody>
      </p:sp>
      <p:sp>
        <p:nvSpPr>
          <p:cNvPr id="12" name="TextBox 11"/>
          <p:cNvSpPr txBox="1"/>
          <p:nvPr/>
        </p:nvSpPr>
        <p:spPr>
          <a:xfrm>
            <a:off x="6400800" y="2926080"/>
            <a:ext cx="5303520" cy="3474720"/>
          </a:xfrm>
          <a:prstGeom prst="rect">
            <a:avLst/>
          </a:prstGeom>
          <a:noFill/>
        </p:spPr>
        <p:txBody>
          <a:bodyPr wrap="square">
            <a:spAutoFit/>
          </a:bodyPr>
          <a:lstStyle/>
          <a:p>
            <a:pPr algn="l">
              <a:spcBef>
                <a:spcPts val="400"/>
              </a:spcBef>
            </a:pPr>
            <a:r>
              <a:rPr sz="1350" b="1" i="0">
                <a:solidFill>
                  <a:srgbClr val="B3261E"/>
                </a:solidFill>
              </a:rPr>
              <a:t>▸  Read-check-write without a lock:</a:t>
            </a:r>
          </a:p>
          <a:p>
            <a:pPr algn="l">
              <a:spcBef>
                <a:spcPts val="100"/>
              </a:spcBef>
            </a:pPr>
            <a:r>
              <a:rPr sz="1150" b="0" i="1">
                <a:solidFill>
                  <a:srgbClr val="F7F5EF"/>
                </a:solidFill>
              </a:rPr>
              <a:t>    Two threads both read balance=1000</a:t>
            </a:r>
          </a:p>
          <a:p>
            <a:pPr algn="l">
              <a:spcBef>
                <a:spcPts val="100"/>
              </a:spcBef>
            </a:pPr>
            <a:r>
              <a:rPr sz="1150" b="0" i="1">
                <a:solidFill>
                  <a:srgbClr val="F7F5EF"/>
                </a:solidFill>
              </a:rPr>
              <a:t>    Both decide 1000 &gt;= 600, both proceed</a:t>
            </a:r>
          </a:p>
          <a:p>
            <a:pPr algn="l">
              <a:spcBef>
                <a:spcPts val="100"/>
              </a:spcBef>
            </a:pPr>
            <a:r>
              <a:rPr sz="1150" b="0" i="1">
                <a:solidFill>
                  <a:srgbClr val="B3261E"/>
                </a:solidFill>
              </a:rPr>
              <a:t>    Both debit → balance ends at -200 ❌</a:t>
            </a:r>
          </a:p>
          <a:p>
            <a:pPr algn="l">
              <a:spcBef>
                <a:spcPts val="400"/>
              </a:spcBef>
            </a:pPr>
            <a:r>
              <a:rPr sz="1350" b="0" i="0">
                <a:solidFill>
                  <a:srgbClr val="FFFFFF"/>
                </a:solidFill>
              </a:rPr>
              <a:t>▸  </a:t>
            </a:r>
          </a:p>
          <a:p>
            <a:pPr algn="l">
              <a:spcBef>
                <a:spcPts val="400"/>
              </a:spcBef>
            </a:pPr>
            <a:r>
              <a:rPr sz="1350" b="1" i="0">
                <a:solidFill>
                  <a:srgbClr val="B3261E"/>
                </a:solidFill>
              </a:rPr>
              <a:t>▸  Optimistic-only (xmin) under high contention:</a:t>
            </a:r>
          </a:p>
          <a:p>
            <a:pPr algn="l">
              <a:spcBef>
                <a:spcPts val="100"/>
              </a:spcBef>
            </a:pPr>
            <a:r>
              <a:rPr sz="1150" b="0" i="1">
                <a:solidFill>
                  <a:srgbClr val="F7F5EF"/>
                </a:solidFill>
              </a:rPr>
              <a:t>    Most retries still succeed, but under burst</a:t>
            </a:r>
          </a:p>
          <a:p>
            <a:pPr algn="l">
              <a:spcBef>
                <a:spcPts val="100"/>
              </a:spcBef>
            </a:pPr>
            <a:r>
              <a:rPr sz="1150" b="0" i="1">
                <a:solidFill>
                  <a:srgbClr val="F7F5EF"/>
                </a:solidFill>
              </a:rPr>
              <a:t>    load retries storm the DB ❌</a:t>
            </a:r>
          </a:p>
          <a:p>
            <a:pPr algn="l">
              <a:spcBef>
                <a:spcPts val="400"/>
              </a:spcBef>
            </a:pPr>
            <a:r>
              <a:rPr sz="1350" b="0" i="0">
                <a:solidFill>
                  <a:srgbClr val="FFFFFF"/>
                </a:solidFill>
              </a:rPr>
              <a:t>▸  </a:t>
            </a:r>
          </a:p>
          <a:p>
            <a:pPr algn="l">
              <a:spcBef>
                <a:spcPts val="400"/>
              </a:spcBef>
            </a:pPr>
            <a:r>
              <a:rPr sz="1350" b="1" i="0">
                <a:solidFill>
                  <a:srgbClr val="1C8B5A"/>
                </a:solidFill>
              </a:rPr>
              <a:t>▸  Our approach: lock first, check inside lock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12169"/>
        </a:solidFill>
        <a:effectLst/>
      </p:bgPr>
    </p:bg>
    <p:spTree>
      <p:nvGrpSpPr>
        <p:cNvPr id="1" name=""/>
        <p:cNvGrpSpPr/>
        <p:nvPr/>
      </p:nvGrpSpPr>
      <p:grpSpPr/>
      <p:sp>
        <p:nvSpPr>
          <p:cNvPr id="2" name="Rectangle 1"/>
          <p:cNvSpPr/>
          <p:nvPr/>
        </p:nvSpPr>
        <p:spPr>
          <a:xfrm>
            <a:off x="0" y="64008"/>
            <a:ext cx="12188952" cy="50292"/>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155680" cy="822960"/>
          </a:xfrm>
          <a:prstGeom prst="rect">
            <a:avLst/>
          </a:prstGeom>
          <a:noFill/>
        </p:spPr>
        <p:txBody>
          <a:bodyPr wrap="square">
            <a:spAutoFit/>
          </a:bodyPr>
          <a:lstStyle/>
          <a:p>
            <a:pPr algn="l"/>
            <a:r>
              <a:rPr sz="3600" b="1" i="0">
                <a:solidFill>
                  <a:srgbClr val="D4A017"/>
                </a:solidFill>
              </a:rPr>
              <a:t>Idempotency</a:t>
            </a:r>
          </a:p>
        </p:txBody>
      </p:sp>
      <p:sp>
        <p:nvSpPr>
          <p:cNvPr id="4" name="TextBox 3"/>
          <p:cNvSpPr txBox="1"/>
          <p:nvPr/>
        </p:nvSpPr>
        <p:spPr>
          <a:xfrm>
            <a:off x="502920" y="896112"/>
            <a:ext cx="11155680" cy="411480"/>
          </a:xfrm>
          <a:prstGeom prst="rect">
            <a:avLst/>
          </a:prstGeom>
          <a:noFill/>
        </p:spPr>
        <p:txBody>
          <a:bodyPr wrap="square">
            <a:spAutoFit/>
          </a:bodyPr>
          <a:lstStyle/>
          <a:p>
            <a:pPr algn="l"/>
            <a:r>
              <a:rPr sz="1300" b="0" i="0">
                <a:solidFill>
                  <a:srgbClr val="5B6478"/>
                </a:solidFill>
              </a:rPr>
              <a:t>Safe retries — the transfer either happened once or didn't happen at all</a:t>
            </a:r>
          </a:p>
        </p:txBody>
      </p:sp>
      <p:sp>
        <p:nvSpPr>
          <p:cNvPr id="5" name="Rounded Rectangle 4"/>
          <p:cNvSpPr/>
          <p:nvPr/>
        </p:nvSpPr>
        <p:spPr>
          <a:xfrm>
            <a:off x="274320" y="2011680"/>
            <a:ext cx="1828800" cy="914400"/>
          </a:xfrm>
          <a:prstGeom prst="roundRect">
            <a:avLst>
              <a:gd name="adj" fmla="val 30000"/>
            </a:avLst>
          </a:prstGeom>
          <a:solidFill>
            <a:srgbClr val="041B52"/>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2057400"/>
            <a:ext cx="1737360" cy="822960"/>
          </a:xfrm>
          <a:prstGeom prst="rect">
            <a:avLst/>
          </a:prstGeom>
          <a:noFill/>
        </p:spPr>
        <p:txBody>
          <a:bodyPr wrap="square">
            <a:spAutoFit/>
          </a:bodyPr>
          <a:lstStyle/>
          <a:p>
            <a:pPr algn="ctr"/>
            <a:r>
              <a:rPr sz="1150" b="0" i="0">
                <a:solidFill>
                  <a:srgbClr val="FFFFFF"/>
                </a:solidFill>
              </a:rPr>
              <a:t>Client sends transfer
+  Idempotency-Key: abc</a:t>
            </a:r>
          </a:p>
        </p:txBody>
      </p:sp>
      <p:sp>
        <p:nvSpPr>
          <p:cNvPr id="7" name="Rounded Rectangle 6"/>
          <p:cNvSpPr/>
          <p:nvPr/>
        </p:nvSpPr>
        <p:spPr>
          <a:xfrm>
            <a:off x="2331720" y="2011680"/>
            <a:ext cx="1828800" cy="914400"/>
          </a:xfrm>
          <a:prstGeom prst="roundRect">
            <a:avLst>
              <a:gd name="adj" fmla="val 30000"/>
            </a:avLst>
          </a:prstGeom>
          <a:solidFill>
            <a:srgbClr val="0A3A6A"/>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77439" y="2057400"/>
            <a:ext cx="1737360" cy="822960"/>
          </a:xfrm>
          <a:prstGeom prst="rect">
            <a:avLst/>
          </a:prstGeom>
          <a:noFill/>
        </p:spPr>
        <p:txBody>
          <a:bodyPr wrap="square">
            <a:spAutoFit/>
          </a:bodyPr>
          <a:lstStyle/>
          <a:p>
            <a:pPr algn="ctr"/>
            <a:r>
              <a:rPr sz="1150" b="0" i="0">
                <a:solidFill>
                  <a:srgbClr val="F2C94C"/>
                </a:solidFill>
              </a:rPr>
              <a:t>Key found in DB?
(fast path)</a:t>
            </a:r>
          </a:p>
        </p:txBody>
      </p:sp>
      <p:sp>
        <p:nvSpPr>
          <p:cNvPr id="9" name="Rounded Rectangle 8"/>
          <p:cNvSpPr/>
          <p:nvPr/>
        </p:nvSpPr>
        <p:spPr>
          <a:xfrm>
            <a:off x="4389120" y="2011680"/>
            <a:ext cx="1737360" cy="914400"/>
          </a:xfrm>
          <a:prstGeom prst="roundRect">
            <a:avLst>
              <a:gd name="adj" fmla="val 30000"/>
            </a:avLst>
          </a:prstGeom>
          <a:solidFill>
            <a:srgbClr val="1C8B5A"/>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2057400"/>
            <a:ext cx="1645919" cy="822960"/>
          </a:xfrm>
          <a:prstGeom prst="rect">
            <a:avLst/>
          </a:prstGeom>
          <a:noFill/>
        </p:spPr>
        <p:txBody>
          <a:bodyPr wrap="square">
            <a:spAutoFit/>
          </a:bodyPr>
          <a:lstStyle/>
          <a:p>
            <a:pPr algn="ctr"/>
            <a:r>
              <a:rPr sz="1150" b="0" i="0">
                <a:solidFill>
                  <a:srgbClr val="FFFFFF"/>
                </a:solidFill>
              </a:rPr>
              <a:t>Return stored
response (201)
Idempotent-Replayed: true</a:t>
            </a:r>
          </a:p>
        </p:txBody>
      </p:sp>
      <p:sp>
        <p:nvSpPr>
          <p:cNvPr id="11" name="Rounded Rectangle 10"/>
          <p:cNvSpPr/>
          <p:nvPr/>
        </p:nvSpPr>
        <p:spPr>
          <a:xfrm>
            <a:off x="2331720" y="3200400"/>
            <a:ext cx="1828800" cy="914400"/>
          </a:xfrm>
          <a:prstGeom prst="roundRect">
            <a:avLst>
              <a:gd name="adj" fmla="val 30000"/>
            </a:avLst>
          </a:prstGeom>
          <a:solidFill>
            <a:srgbClr val="0A3A6A"/>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77439" y="3246120"/>
            <a:ext cx="1737360" cy="822960"/>
          </a:xfrm>
          <a:prstGeom prst="rect">
            <a:avLst/>
          </a:prstGeom>
          <a:noFill/>
        </p:spPr>
        <p:txBody>
          <a:bodyPr wrap="square">
            <a:spAutoFit/>
          </a:bodyPr>
          <a:lstStyle/>
          <a:p>
            <a:pPr algn="ctr"/>
            <a:r>
              <a:rPr sz="1150" b="0" i="0">
                <a:solidFill>
                  <a:srgbClr val="F2C94C"/>
                </a:solidFill>
              </a:rPr>
              <a:t>Same payload hash?</a:t>
            </a:r>
          </a:p>
        </p:txBody>
      </p:sp>
      <p:sp>
        <p:nvSpPr>
          <p:cNvPr id="13" name="Rounded Rectangle 12"/>
          <p:cNvSpPr/>
          <p:nvPr/>
        </p:nvSpPr>
        <p:spPr>
          <a:xfrm>
            <a:off x="4389120" y="3200400"/>
            <a:ext cx="1737360" cy="914400"/>
          </a:xfrm>
          <a:prstGeom prst="roundRect">
            <a:avLst>
              <a:gd name="adj" fmla="val 30000"/>
            </a:avLst>
          </a:prstGeom>
          <a:solidFill>
            <a:srgbClr val="B3261E"/>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3246120"/>
            <a:ext cx="1645919" cy="822960"/>
          </a:xfrm>
          <a:prstGeom prst="rect">
            <a:avLst/>
          </a:prstGeom>
          <a:noFill/>
        </p:spPr>
        <p:txBody>
          <a:bodyPr wrap="square">
            <a:spAutoFit/>
          </a:bodyPr>
          <a:lstStyle/>
          <a:p>
            <a:pPr algn="ctr"/>
            <a:r>
              <a:rPr sz="1150" b="0" i="0">
                <a:solidFill>
                  <a:srgbClr val="FFFFFF"/>
                </a:solidFill>
              </a:rPr>
              <a:t>409 Conflict
key reused with
different body</a:t>
            </a:r>
          </a:p>
        </p:txBody>
      </p:sp>
      <p:sp>
        <p:nvSpPr>
          <p:cNvPr id="15" name="Rounded Rectangle 14"/>
          <p:cNvSpPr/>
          <p:nvPr/>
        </p:nvSpPr>
        <p:spPr>
          <a:xfrm>
            <a:off x="6675120" y="2011680"/>
            <a:ext cx="2286000" cy="914400"/>
          </a:xfrm>
          <a:prstGeom prst="roundRect">
            <a:avLst>
              <a:gd name="adj" fmla="val 30000"/>
            </a:avLst>
          </a:prstGeom>
          <a:solidFill>
            <a:srgbClr val="D4A017"/>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2057400"/>
            <a:ext cx="2194560" cy="822960"/>
          </a:xfrm>
          <a:prstGeom prst="rect">
            <a:avLst/>
          </a:prstGeom>
          <a:noFill/>
        </p:spPr>
        <p:txBody>
          <a:bodyPr wrap="square">
            <a:spAutoFit/>
          </a:bodyPr>
          <a:lstStyle/>
          <a:p>
            <a:pPr algn="ctr"/>
            <a:r>
              <a:rPr sz="1150" b="1" i="0">
                <a:solidFill>
                  <a:srgbClr val="012169"/>
                </a:solidFill>
              </a:rPr>
              <a:t>Execute transfer +
write idempotency record
in ONE transaction</a:t>
            </a:r>
          </a:p>
        </p:txBody>
      </p:sp>
      <p:sp>
        <p:nvSpPr>
          <p:cNvPr id="17" name="TextBox 16"/>
          <p:cNvSpPr txBox="1"/>
          <p:nvPr/>
        </p:nvSpPr>
        <p:spPr>
          <a:xfrm>
            <a:off x="2103120" y="2304288"/>
            <a:ext cx="548640" cy="320040"/>
          </a:xfrm>
          <a:prstGeom prst="rect">
            <a:avLst/>
          </a:prstGeom>
          <a:noFill/>
        </p:spPr>
        <p:txBody>
          <a:bodyPr wrap="square">
            <a:spAutoFit/>
          </a:bodyPr>
          <a:lstStyle/>
          <a:p>
            <a:pPr algn="ctr"/>
            <a:r>
              <a:rPr sz="1000" b="1" i="0">
                <a:solidFill>
                  <a:srgbClr val="F2C94C"/>
                </a:solidFill>
              </a:rPr>
              <a:t>YES →</a:t>
            </a:r>
          </a:p>
        </p:txBody>
      </p:sp>
      <p:sp>
        <p:nvSpPr>
          <p:cNvPr id="18" name="TextBox 17"/>
          <p:cNvSpPr txBox="1"/>
          <p:nvPr/>
        </p:nvSpPr>
        <p:spPr>
          <a:xfrm>
            <a:off x="2103120" y="2304288"/>
            <a:ext cx="548640" cy="320040"/>
          </a:xfrm>
          <a:prstGeom prst="rect">
            <a:avLst/>
          </a:prstGeom>
          <a:noFill/>
        </p:spPr>
        <p:txBody>
          <a:bodyPr wrap="square">
            <a:spAutoFit/>
          </a:bodyPr>
          <a:lstStyle/>
          <a:p>
            <a:pPr algn="ctr"/>
            <a:r>
              <a:rPr sz="1000" b="1" i="0">
                <a:solidFill>
                  <a:srgbClr val="F2C94C"/>
                </a:solidFill>
              </a:rPr>
              <a:t>NO ↓</a:t>
            </a:r>
          </a:p>
        </p:txBody>
      </p:sp>
      <p:sp>
        <p:nvSpPr>
          <p:cNvPr id="19" name="TextBox 18"/>
          <p:cNvSpPr txBox="1"/>
          <p:nvPr/>
        </p:nvSpPr>
        <p:spPr>
          <a:xfrm>
            <a:off x="4160520" y="3493008"/>
            <a:ext cx="548640" cy="320040"/>
          </a:xfrm>
          <a:prstGeom prst="rect">
            <a:avLst/>
          </a:prstGeom>
          <a:noFill/>
        </p:spPr>
        <p:txBody>
          <a:bodyPr wrap="square">
            <a:spAutoFit/>
          </a:bodyPr>
          <a:lstStyle/>
          <a:p>
            <a:pPr algn="ctr"/>
            <a:r>
              <a:rPr sz="1000" b="1" i="0">
                <a:solidFill>
                  <a:srgbClr val="F2C94C"/>
                </a:solidFill>
              </a:rPr>
              <a:t>NO →</a:t>
            </a:r>
          </a:p>
        </p:txBody>
      </p:sp>
      <p:sp>
        <p:nvSpPr>
          <p:cNvPr id="20" name="TextBox 19"/>
          <p:cNvSpPr txBox="1"/>
          <p:nvPr/>
        </p:nvSpPr>
        <p:spPr>
          <a:xfrm>
            <a:off x="4160520" y="2304288"/>
            <a:ext cx="548640" cy="320040"/>
          </a:xfrm>
          <a:prstGeom prst="rect">
            <a:avLst/>
          </a:prstGeom>
          <a:noFill/>
        </p:spPr>
        <p:txBody>
          <a:bodyPr wrap="square">
            <a:spAutoFit/>
          </a:bodyPr>
          <a:lstStyle/>
          <a:p>
            <a:pPr algn="ctr"/>
            <a:r>
              <a:rPr sz="1000" b="1" i="0">
                <a:solidFill>
                  <a:srgbClr val="F2C94C"/>
                </a:solidFill>
              </a:rPr>
              <a:t>YES →</a:t>
            </a:r>
          </a:p>
        </p:txBody>
      </p:sp>
      <p:sp>
        <p:nvSpPr>
          <p:cNvPr id="21" name="TextBox 20"/>
          <p:cNvSpPr txBox="1"/>
          <p:nvPr/>
        </p:nvSpPr>
        <p:spPr>
          <a:xfrm>
            <a:off x="6492240" y="2304288"/>
            <a:ext cx="548640" cy="320040"/>
          </a:xfrm>
          <a:prstGeom prst="rect">
            <a:avLst/>
          </a:prstGeom>
          <a:noFill/>
        </p:spPr>
        <p:txBody>
          <a:bodyPr wrap="square">
            <a:spAutoFit/>
          </a:bodyPr>
          <a:lstStyle/>
          <a:p>
            <a:pPr algn="ctr"/>
            <a:r>
              <a:rPr sz="1000" b="1" i="0">
                <a:solidFill>
                  <a:srgbClr val="F2C94C"/>
                </a:solidFill>
              </a:rPr>
              <a:t/>
            </a:r>
          </a:p>
        </p:txBody>
      </p:sp>
      <p:sp>
        <p:nvSpPr>
          <p:cNvPr id="22" name="Rounded Rectangle 21"/>
          <p:cNvSpPr/>
          <p:nvPr/>
        </p:nvSpPr>
        <p:spPr>
          <a:xfrm>
            <a:off x="365760" y="4572000"/>
            <a:ext cx="11430000" cy="1097280"/>
          </a:xfrm>
          <a:prstGeom prst="roundRect">
            <a:avLst>
              <a:gd name="adj" fmla="val 30000"/>
            </a:avLst>
          </a:prstGeom>
          <a:solidFill>
            <a:srgbClr val="0A1E4A"/>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663440"/>
            <a:ext cx="10972800" cy="365760"/>
          </a:xfrm>
          <a:prstGeom prst="rect">
            <a:avLst/>
          </a:prstGeom>
          <a:noFill/>
        </p:spPr>
        <p:txBody>
          <a:bodyPr wrap="square">
            <a:spAutoFit/>
          </a:bodyPr>
          <a:lstStyle/>
          <a:p>
            <a:pPr algn="l"/>
            <a:r>
              <a:rPr sz="1400" b="1" i="0">
                <a:solidFill>
                  <a:srgbClr val="D4A017"/>
                </a:solidFill>
              </a:rPr>
              <a:t>The critical design decision</a:t>
            </a:r>
          </a:p>
        </p:txBody>
      </p:sp>
      <p:sp>
        <p:nvSpPr>
          <p:cNvPr id="24" name="TextBox 23"/>
          <p:cNvSpPr txBox="1"/>
          <p:nvPr/>
        </p:nvSpPr>
        <p:spPr>
          <a:xfrm>
            <a:off x="548640" y="5029200"/>
            <a:ext cx="10972800" cy="594360"/>
          </a:xfrm>
          <a:prstGeom prst="rect">
            <a:avLst/>
          </a:prstGeom>
          <a:noFill/>
        </p:spPr>
        <p:txBody>
          <a:bodyPr wrap="square">
            <a:spAutoFit/>
          </a:bodyPr>
          <a:lstStyle/>
          <a:p>
            <a:pPr algn="l"/>
            <a:r>
              <a:rPr sz="1300" b="0" i="0">
                <a:solidFill>
                  <a:srgbClr val="FFFFFF"/>
                </a:solidFill>
              </a:rPr>
              <a:t>The idempotency record is written in the SAME database transaction as the balance mutation. There is no window where the transfer commits but the record does not — so a retry can never double-process money. Concurrent replays race on a unique index: the loser rolls back entirely.</a:t>
            </a:r>
          </a:p>
        </p:txBody>
      </p:sp>
      <p:sp>
        <p:nvSpPr>
          <p:cNvPr id="25" name="Rounded Rectangle 24"/>
          <p:cNvSpPr/>
          <p:nvPr/>
        </p:nvSpPr>
        <p:spPr>
          <a:xfrm>
            <a:off x="365760" y="5806440"/>
            <a:ext cx="5669280" cy="914400"/>
          </a:xfrm>
          <a:prstGeom prst="roundRect">
            <a:avLst>
              <a:gd name="adj" fmla="val 30000"/>
            </a:avLst>
          </a:prstGeom>
          <a:solidFill>
            <a:srgbClr val="041B52"/>
          </a:solidFill>
          <a:ln w="19050">
            <a:solidFill>
              <a:srgbClr val="1C8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5870448"/>
            <a:ext cx="5394960" cy="320040"/>
          </a:xfrm>
          <a:prstGeom prst="rect">
            <a:avLst/>
          </a:prstGeom>
          <a:noFill/>
        </p:spPr>
        <p:txBody>
          <a:bodyPr wrap="square">
            <a:spAutoFit/>
          </a:bodyPr>
          <a:lstStyle/>
          <a:p>
            <a:pPr algn="l"/>
            <a:r>
              <a:rPr sz="1300" b="1" i="0">
                <a:solidFill>
                  <a:srgbClr val="1C8B5A"/>
                </a:solidFill>
              </a:rPr>
              <a:t>Replay same key + same body</a:t>
            </a:r>
          </a:p>
        </p:txBody>
      </p:sp>
      <p:sp>
        <p:nvSpPr>
          <p:cNvPr id="27" name="TextBox 26"/>
          <p:cNvSpPr txBox="1"/>
          <p:nvPr/>
        </p:nvSpPr>
        <p:spPr>
          <a:xfrm>
            <a:off x="502920" y="6199632"/>
            <a:ext cx="5394960" cy="502920"/>
          </a:xfrm>
          <a:prstGeom prst="rect">
            <a:avLst/>
          </a:prstGeom>
          <a:noFill/>
        </p:spPr>
        <p:txBody>
          <a:bodyPr wrap="square">
            <a:spAutoFit/>
          </a:bodyPr>
          <a:lstStyle/>
          <a:p>
            <a:pPr algn="l"/>
            <a:r>
              <a:rPr sz="1200" b="0" i="0">
                <a:solidFill>
                  <a:srgbClr val="FFFFFF"/>
                </a:solidFill>
              </a:rPr>
              <a:t>Returns original 201 response
Idempotent-Replayed: true header
Money moved exactly once</a:t>
            </a:r>
          </a:p>
        </p:txBody>
      </p:sp>
      <p:sp>
        <p:nvSpPr>
          <p:cNvPr id="28" name="Rounded Rectangle 27"/>
          <p:cNvSpPr/>
          <p:nvPr/>
        </p:nvSpPr>
        <p:spPr>
          <a:xfrm>
            <a:off x="6355080" y="5806440"/>
            <a:ext cx="5669280" cy="914400"/>
          </a:xfrm>
          <a:prstGeom prst="roundRect">
            <a:avLst>
              <a:gd name="adj" fmla="val 30000"/>
            </a:avLst>
          </a:prstGeom>
          <a:solidFill>
            <a:srgbClr val="041B52"/>
          </a:solidFill>
          <a:ln w="19050">
            <a:solidFill>
              <a:srgbClr val="B326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5870448"/>
            <a:ext cx="5394960" cy="320040"/>
          </a:xfrm>
          <a:prstGeom prst="rect">
            <a:avLst/>
          </a:prstGeom>
          <a:noFill/>
        </p:spPr>
        <p:txBody>
          <a:bodyPr wrap="square">
            <a:spAutoFit/>
          </a:bodyPr>
          <a:lstStyle/>
          <a:p>
            <a:pPr algn="l"/>
            <a:r>
              <a:rPr sz="1300" b="1" i="0">
                <a:solidFill>
                  <a:srgbClr val="B3261E"/>
                </a:solidFill>
              </a:rPr>
              <a:t>Reuse key + different body</a:t>
            </a:r>
          </a:p>
        </p:txBody>
      </p:sp>
      <p:sp>
        <p:nvSpPr>
          <p:cNvPr id="30" name="TextBox 29"/>
          <p:cNvSpPr txBox="1"/>
          <p:nvPr/>
        </p:nvSpPr>
        <p:spPr>
          <a:xfrm>
            <a:off x="6492240" y="6199632"/>
            <a:ext cx="5394960" cy="502920"/>
          </a:xfrm>
          <a:prstGeom prst="rect">
            <a:avLst/>
          </a:prstGeom>
          <a:noFill/>
        </p:spPr>
        <p:txBody>
          <a:bodyPr wrap="square">
            <a:spAutoFit/>
          </a:bodyPr>
          <a:lstStyle/>
          <a:p>
            <a:pPr algn="l"/>
            <a:r>
              <a:rPr sz="1200" b="0" i="0">
                <a:solidFill>
                  <a:srgbClr val="FFFFFF"/>
                </a:solidFill>
              </a:rPr>
              <a:t>409 Conflict
idempotency_key_reused error code
Original transfer unchanged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12169"/>
        </a:solidFill>
        <a:effectLst/>
      </p:bgPr>
    </p:bg>
    <p:spTree>
      <p:nvGrpSpPr>
        <p:cNvPr id="1" name=""/>
        <p:cNvGrpSpPr/>
        <p:nvPr/>
      </p:nvGrpSpPr>
      <p:grpSpPr/>
      <p:sp>
        <p:nvSpPr>
          <p:cNvPr id="2" name="Rectangle 1"/>
          <p:cNvSpPr/>
          <p:nvPr/>
        </p:nvSpPr>
        <p:spPr>
          <a:xfrm>
            <a:off x="0" y="64008"/>
            <a:ext cx="12188952" cy="50292"/>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155680" cy="822960"/>
          </a:xfrm>
          <a:prstGeom prst="rect">
            <a:avLst/>
          </a:prstGeom>
          <a:noFill/>
        </p:spPr>
        <p:txBody>
          <a:bodyPr wrap="square">
            <a:spAutoFit/>
          </a:bodyPr>
          <a:lstStyle/>
          <a:p>
            <a:pPr algn="l"/>
            <a:r>
              <a:rPr sz="3600" b="1" i="0">
                <a:solidFill>
                  <a:srgbClr val="D4A017"/>
                </a:solidFill>
              </a:rPr>
              <a:t>All Requirements Met</a:t>
            </a:r>
          </a:p>
        </p:txBody>
      </p:sp>
      <p:sp>
        <p:nvSpPr>
          <p:cNvPr id="4" name="TextBox 3"/>
          <p:cNvSpPr txBox="1"/>
          <p:nvPr/>
        </p:nvSpPr>
        <p:spPr>
          <a:xfrm>
            <a:off x="502920" y="896112"/>
            <a:ext cx="11155680" cy="411480"/>
          </a:xfrm>
          <a:prstGeom prst="rect">
            <a:avLst/>
          </a:prstGeom>
          <a:noFill/>
        </p:spPr>
        <p:txBody>
          <a:bodyPr wrap="square">
            <a:spAutoFit/>
          </a:bodyPr>
          <a:lstStyle/>
          <a:p>
            <a:pPr algn="l"/>
            <a:r>
              <a:rPr sz="1300" b="0" i="0">
                <a:solidFill>
                  <a:srgbClr val="5B6478"/>
                </a:solidFill>
              </a:rPr>
              <a:t>Functional · security · stretch goals</a:t>
            </a:r>
          </a:p>
        </p:txBody>
      </p:sp>
      <p:sp>
        <p:nvSpPr>
          <p:cNvPr id="5" name="Rounded Rectangle 4"/>
          <p:cNvSpPr/>
          <p:nvPr/>
        </p:nvSpPr>
        <p:spPr>
          <a:xfrm>
            <a:off x="365760" y="1417320"/>
            <a:ext cx="5623560" cy="123444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90472"/>
            <a:ext cx="5349240" cy="347472"/>
          </a:xfrm>
          <a:prstGeom prst="rect">
            <a:avLst/>
          </a:prstGeom>
          <a:noFill/>
        </p:spPr>
        <p:txBody>
          <a:bodyPr wrap="square">
            <a:spAutoFit/>
          </a:bodyPr>
          <a:lstStyle/>
          <a:p>
            <a:pPr algn="l"/>
            <a:r>
              <a:rPr sz="1350" b="1" i="0">
                <a:solidFill>
                  <a:srgbClr val="D4A017"/>
                </a:solidFill>
              </a:rPr>
              <a:t>Daily Limit</a:t>
            </a:r>
          </a:p>
        </p:txBody>
      </p:sp>
      <p:sp>
        <p:nvSpPr>
          <p:cNvPr id="7" name="TextBox 6"/>
          <p:cNvSpPr txBox="1"/>
          <p:nvPr/>
        </p:nvSpPr>
        <p:spPr>
          <a:xfrm>
            <a:off x="502920" y="1837944"/>
            <a:ext cx="5349240" cy="749808"/>
          </a:xfrm>
          <a:prstGeom prst="rect">
            <a:avLst/>
          </a:prstGeom>
          <a:noFill/>
        </p:spPr>
        <p:txBody>
          <a:bodyPr wrap="square">
            <a:spAutoFit/>
          </a:bodyPr>
          <a:lstStyle/>
          <a:p>
            <a:pPr algn="l"/>
            <a:r>
              <a:rPr sz="1100" b="0" i="0">
                <a:solidFill>
                  <a:srgbClr val="F7F5EF"/>
                </a:solidFill>
              </a:rPr>
              <a:t>₦500,000 outbound / wallet / WAT day. Computed from actual transaction history under the same row lock → consistent with concurrent transfers. No separate counter, no reset job.</a:t>
            </a:r>
          </a:p>
        </p:txBody>
      </p:sp>
      <p:sp>
        <p:nvSpPr>
          <p:cNvPr id="8" name="Rounded Rectangle 7"/>
          <p:cNvSpPr/>
          <p:nvPr/>
        </p:nvSpPr>
        <p:spPr>
          <a:xfrm>
            <a:off x="6309360" y="1417320"/>
            <a:ext cx="5623560" cy="1234440"/>
          </a:xfrm>
          <a:prstGeom prst="roundRect">
            <a:avLst>
              <a:gd name="adj" fmla="val 30000"/>
            </a:avLst>
          </a:prstGeom>
          <a:solidFill>
            <a:srgbClr val="041B52"/>
          </a:solidFill>
          <a:ln w="19050">
            <a:solidFill>
              <a:srgbClr val="123A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490472"/>
            <a:ext cx="5349240" cy="347472"/>
          </a:xfrm>
          <a:prstGeom prst="rect">
            <a:avLst/>
          </a:prstGeom>
          <a:noFill/>
        </p:spPr>
        <p:txBody>
          <a:bodyPr wrap="square">
            <a:spAutoFit/>
          </a:bodyPr>
          <a:lstStyle/>
          <a:p>
            <a:pPr algn="l"/>
            <a:r>
              <a:rPr sz="1350" b="1" i="0">
                <a:solidFill>
                  <a:srgbClr val="FFFFFF"/>
                </a:solidFill>
              </a:rPr>
              <a:t>Statement</a:t>
            </a:r>
          </a:p>
        </p:txBody>
      </p:sp>
      <p:sp>
        <p:nvSpPr>
          <p:cNvPr id="10" name="TextBox 9"/>
          <p:cNvSpPr txBox="1"/>
          <p:nvPr/>
        </p:nvSpPr>
        <p:spPr>
          <a:xfrm>
            <a:off x="6446520" y="1837944"/>
            <a:ext cx="5349240" cy="749808"/>
          </a:xfrm>
          <a:prstGeom prst="rect">
            <a:avLst/>
          </a:prstGeom>
          <a:noFill/>
        </p:spPr>
        <p:txBody>
          <a:bodyPr wrap="square">
            <a:spAutoFit/>
          </a:bodyPr>
          <a:lstStyle/>
          <a:p>
            <a:pPr algn="l"/>
            <a:r>
              <a:rPr sz="1100" b="0" i="0">
                <a:solidFill>
                  <a:srgbClr val="F7F5EF"/>
                </a:solidFill>
              </a:rPr>
              <a:t>GET /api/wallets/{id}/statement  ·  paginated, newest-first  ·  page / pageSize query params  ·  totalCount for client-side paging</a:t>
            </a:r>
          </a:p>
        </p:txBody>
      </p:sp>
      <p:sp>
        <p:nvSpPr>
          <p:cNvPr id="11" name="Rounded Rectangle 10"/>
          <p:cNvSpPr/>
          <p:nvPr/>
        </p:nvSpPr>
        <p:spPr>
          <a:xfrm>
            <a:off x="365760" y="2788920"/>
            <a:ext cx="5623560" cy="1234440"/>
          </a:xfrm>
          <a:prstGeom prst="roundRect">
            <a:avLst>
              <a:gd name="adj" fmla="val 30000"/>
            </a:avLst>
          </a:prstGeom>
          <a:solidFill>
            <a:srgbClr val="041B52"/>
          </a:solidFill>
          <a:ln w="19050">
            <a:solidFill>
              <a:srgbClr val="123A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862072"/>
            <a:ext cx="5349240" cy="347472"/>
          </a:xfrm>
          <a:prstGeom prst="rect">
            <a:avLst/>
          </a:prstGeom>
          <a:noFill/>
        </p:spPr>
        <p:txBody>
          <a:bodyPr wrap="square">
            <a:spAutoFit/>
          </a:bodyPr>
          <a:lstStyle/>
          <a:p>
            <a:pPr algn="l"/>
            <a:r>
              <a:rPr sz="1350" b="1" i="0">
                <a:solidFill>
                  <a:srgbClr val="F2C94C"/>
                </a:solidFill>
              </a:rPr>
              <a:t>Audit Log</a:t>
            </a:r>
          </a:p>
        </p:txBody>
      </p:sp>
      <p:sp>
        <p:nvSpPr>
          <p:cNvPr id="13" name="TextBox 12"/>
          <p:cNvSpPr txBox="1"/>
          <p:nvPr/>
        </p:nvSpPr>
        <p:spPr>
          <a:xfrm>
            <a:off x="502920" y="3209544"/>
            <a:ext cx="5349240" cy="749808"/>
          </a:xfrm>
          <a:prstGeom prst="rect">
            <a:avLst/>
          </a:prstGeom>
          <a:noFill/>
        </p:spPr>
        <p:txBody>
          <a:bodyPr wrap="square">
            <a:spAutoFit/>
          </a:bodyPr>
          <a:lstStyle/>
          <a:p>
            <a:pPr algn="l"/>
            <a:r>
              <a:rPr sz="1100" b="0" i="0">
                <a:solidFill>
                  <a:srgbClr val="F7F5EF"/>
                </a:solidFill>
              </a:rPr>
              <a:t>Separate append-only audit_logs table. Every mutation writes a row with balanceBefore, balanceAfter, correlationId. Rows are SHA-256 hash-chained — tamper-evidence detectable by re-computing the chain.</a:t>
            </a:r>
          </a:p>
        </p:txBody>
      </p:sp>
      <p:sp>
        <p:nvSpPr>
          <p:cNvPr id="14" name="Rounded Rectangle 13"/>
          <p:cNvSpPr/>
          <p:nvPr/>
        </p:nvSpPr>
        <p:spPr>
          <a:xfrm>
            <a:off x="6309360" y="2788920"/>
            <a:ext cx="5623560" cy="1234440"/>
          </a:xfrm>
          <a:prstGeom prst="roundRect">
            <a:avLst>
              <a:gd name="adj" fmla="val 30000"/>
            </a:avLst>
          </a:prstGeom>
          <a:solidFill>
            <a:srgbClr val="041B52"/>
          </a:solidFill>
          <a:ln w="19050">
            <a:solidFill>
              <a:srgbClr val="123A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862072"/>
            <a:ext cx="5349240" cy="347472"/>
          </a:xfrm>
          <a:prstGeom prst="rect">
            <a:avLst/>
          </a:prstGeom>
          <a:noFill/>
        </p:spPr>
        <p:txBody>
          <a:bodyPr wrap="square">
            <a:spAutoFit/>
          </a:bodyPr>
          <a:lstStyle/>
          <a:p>
            <a:pPr algn="l"/>
            <a:r>
              <a:rPr sz="1350" b="1" i="0">
                <a:solidFill>
                  <a:srgbClr val="FFFFFF"/>
                </a:solidFill>
              </a:rPr>
              <a:t>JWT Auth</a:t>
            </a:r>
          </a:p>
        </p:txBody>
      </p:sp>
      <p:sp>
        <p:nvSpPr>
          <p:cNvPr id="16" name="TextBox 15"/>
          <p:cNvSpPr txBox="1"/>
          <p:nvPr/>
        </p:nvSpPr>
        <p:spPr>
          <a:xfrm>
            <a:off x="6446520" y="3209544"/>
            <a:ext cx="5349240" cy="749808"/>
          </a:xfrm>
          <a:prstGeom prst="rect">
            <a:avLst/>
          </a:prstGeom>
          <a:noFill/>
        </p:spPr>
        <p:txBody>
          <a:bodyPr wrap="square">
            <a:spAutoFit/>
          </a:bodyPr>
          <a:lstStyle/>
          <a:p>
            <a:pPr algn="l"/>
            <a:r>
              <a:rPr sz="1100" b="0" i="0">
                <a:solidFill>
                  <a:srgbClr val="F7F5EF"/>
                </a:solidFill>
              </a:rPr>
              <a:t>JwtBearer middleware validates issuer · audience · lifetime · HMAC signature. POST /api/auth/token is a mock issuer (signing key configurable). All business endpoints require Bearer token.</a:t>
            </a:r>
          </a:p>
        </p:txBody>
      </p:sp>
      <p:sp>
        <p:nvSpPr>
          <p:cNvPr id="17" name="Rounded Rectangle 16"/>
          <p:cNvSpPr/>
          <p:nvPr/>
        </p:nvSpPr>
        <p:spPr>
          <a:xfrm>
            <a:off x="365760" y="4160520"/>
            <a:ext cx="5623560" cy="123444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233672"/>
            <a:ext cx="5349240" cy="347472"/>
          </a:xfrm>
          <a:prstGeom prst="rect">
            <a:avLst/>
          </a:prstGeom>
          <a:noFill/>
        </p:spPr>
        <p:txBody>
          <a:bodyPr wrap="square">
            <a:spAutoFit/>
          </a:bodyPr>
          <a:lstStyle/>
          <a:p>
            <a:pPr algn="l"/>
            <a:r>
              <a:rPr sz="1350" b="1" i="0">
                <a:solidFill>
                  <a:srgbClr val="D4A017"/>
                </a:solidFill>
              </a:rPr>
              <a:t>Error Handling</a:t>
            </a:r>
          </a:p>
        </p:txBody>
      </p:sp>
      <p:sp>
        <p:nvSpPr>
          <p:cNvPr id="19" name="TextBox 18"/>
          <p:cNvSpPr txBox="1"/>
          <p:nvPr/>
        </p:nvSpPr>
        <p:spPr>
          <a:xfrm>
            <a:off x="502920" y="4581144"/>
            <a:ext cx="5349240" cy="749808"/>
          </a:xfrm>
          <a:prstGeom prst="rect">
            <a:avLst/>
          </a:prstGeom>
          <a:noFill/>
        </p:spPr>
        <p:txBody>
          <a:bodyPr wrap="square">
            <a:spAutoFit/>
          </a:bodyPr>
          <a:lstStyle/>
          <a:p>
            <a:pPr algn="l"/>
            <a:r>
              <a:rPr sz="1100" b="0" i="0">
                <a:solidFill>
                  <a:srgbClr val="F7F5EF"/>
                </a:solidFill>
              </a:rPr>
              <a:t>Every error — model validation, domain fault, malformed JSON, DB unavailable — goes through ProblemFactory → application/problem+json with type, title (machine-readable code), correlationId, traceId, timestamp.</a:t>
            </a:r>
          </a:p>
        </p:txBody>
      </p:sp>
      <p:sp>
        <p:nvSpPr>
          <p:cNvPr id="20" name="Rounded Rectangle 19"/>
          <p:cNvSpPr/>
          <p:nvPr/>
        </p:nvSpPr>
        <p:spPr>
          <a:xfrm>
            <a:off x="6309360" y="4160520"/>
            <a:ext cx="5623560" cy="1234440"/>
          </a:xfrm>
          <a:prstGeom prst="roundRect">
            <a:avLst>
              <a:gd name="adj" fmla="val 30000"/>
            </a:avLst>
          </a:prstGeom>
          <a:solidFill>
            <a:srgbClr val="041B52"/>
          </a:solidFill>
          <a:ln w="19050">
            <a:solidFill>
              <a:srgbClr val="123A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233672"/>
            <a:ext cx="5349240" cy="347472"/>
          </a:xfrm>
          <a:prstGeom prst="rect">
            <a:avLst/>
          </a:prstGeom>
          <a:noFill/>
        </p:spPr>
        <p:txBody>
          <a:bodyPr wrap="square">
            <a:spAutoFit/>
          </a:bodyPr>
          <a:lstStyle/>
          <a:p>
            <a:pPr algn="l"/>
            <a:r>
              <a:rPr sz="1350" b="1" i="0">
                <a:solidFill>
                  <a:srgbClr val="FFFFFF"/>
                </a:solidFill>
              </a:rPr>
              <a:t>Rate Limiting</a:t>
            </a:r>
          </a:p>
        </p:txBody>
      </p:sp>
      <p:sp>
        <p:nvSpPr>
          <p:cNvPr id="22" name="TextBox 21"/>
          <p:cNvSpPr txBox="1"/>
          <p:nvPr/>
        </p:nvSpPr>
        <p:spPr>
          <a:xfrm>
            <a:off x="6446520" y="4581144"/>
            <a:ext cx="5349240" cy="749808"/>
          </a:xfrm>
          <a:prstGeom prst="rect">
            <a:avLst/>
          </a:prstGeom>
          <a:noFill/>
        </p:spPr>
        <p:txBody>
          <a:bodyPr wrap="square">
            <a:spAutoFit/>
          </a:bodyPr>
          <a:lstStyle/>
          <a:p>
            <a:pPr algn="l"/>
            <a:r>
              <a:rPr sz="1100" b="0" i="0">
                <a:solidFill>
                  <a:srgbClr val="F7F5EF"/>
                </a:solidFill>
              </a:rPr>
              <a:t>Token-bucket per authenticated subject on POST /api/transfers. Partitioned by ClaimTypes.NameIdentifier (JWT sub claim) so distinct users don't share a bucket.</a:t>
            </a:r>
          </a:p>
        </p:txBody>
      </p:sp>
      <p:sp>
        <p:nvSpPr>
          <p:cNvPr id="23" name="Rounded Rectangle 22"/>
          <p:cNvSpPr/>
          <p:nvPr/>
        </p:nvSpPr>
        <p:spPr>
          <a:xfrm>
            <a:off x="365760" y="5532120"/>
            <a:ext cx="5623560" cy="1234440"/>
          </a:xfrm>
          <a:prstGeom prst="roundRect">
            <a:avLst>
              <a:gd name="adj" fmla="val 30000"/>
            </a:avLst>
          </a:prstGeom>
          <a:solidFill>
            <a:srgbClr val="041B52"/>
          </a:solidFill>
          <a:ln w="19050">
            <a:solidFill>
              <a:srgbClr val="123A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5605272"/>
            <a:ext cx="5349240" cy="347472"/>
          </a:xfrm>
          <a:prstGeom prst="rect">
            <a:avLst/>
          </a:prstGeom>
          <a:noFill/>
        </p:spPr>
        <p:txBody>
          <a:bodyPr wrap="square">
            <a:spAutoFit/>
          </a:bodyPr>
          <a:lstStyle/>
          <a:p>
            <a:pPr algn="l"/>
            <a:r>
              <a:rPr sz="1350" b="1" i="0">
                <a:solidFill>
                  <a:srgbClr val="F2C94C"/>
                </a:solidFill>
              </a:rPr>
              <a:t>Outbox Pattern</a:t>
            </a:r>
          </a:p>
        </p:txBody>
      </p:sp>
      <p:sp>
        <p:nvSpPr>
          <p:cNvPr id="25" name="TextBox 24"/>
          <p:cNvSpPr txBox="1"/>
          <p:nvPr/>
        </p:nvSpPr>
        <p:spPr>
          <a:xfrm>
            <a:off x="502920" y="5952744"/>
            <a:ext cx="5349240" cy="749808"/>
          </a:xfrm>
          <a:prstGeom prst="rect">
            <a:avLst/>
          </a:prstGeom>
          <a:noFill/>
        </p:spPr>
        <p:txBody>
          <a:bodyPr wrap="square">
            <a:spAutoFit/>
          </a:bodyPr>
          <a:lstStyle/>
          <a:p>
            <a:pPr algn="l"/>
            <a:r>
              <a:rPr sz="1100" b="0" i="0">
                <a:solidFill>
                  <a:srgbClr val="F7F5EF"/>
                </a:solidFill>
              </a:rPr>
              <a:t>TransferCompleted event written in the same transaction as the transfer. OutboxDispatcher hosted service drains the table asynchronously — at-least-once delivery, no dual-write risk.</a:t>
            </a:r>
          </a:p>
        </p:txBody>
      </p:sp>
      <p:sp>
        <p:nvSpPr>
          <p:cNvPr id="26" name="Rounded Rectangle 25"/>
          <p:cNvSpPr/>
          <p:nvPr/>
        </p:nvSpPr>
        <p:spPr>
          <a:xfrm>
            <a:off x="6309360" y="5532120"/>
            <a:ext cx="5623560" cy="1234440"/>
          </a:xfrm>
          <a:prstGeom prst="roundRect">
            <a:avLst>
              <a:gd name="adj" fmla="val 30000"/>
            </a:avLst>
          </a:prstGeom>
          <a:solidFill>
            <a:srgbClr val="041B52"/>
          </a:solidFill>
          <a:ln w="19050">
            <a:solidFill>
              <a:srgbClr val="123A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5605272"/>
            <a:ext cx="5349240" cy="347472"/>
          </a:xfrm>
          <a:prstGeom prst="rect">
            <a:avLst/>
          </a:prstGeom>
          <a:noFill/>
        </p:spPr>
        <p:txBody>
          <a:bodyPr wrap="square">
            <a:spAutoFit/>
          </a:bodyPr>
          <a:lstStyle/>
          <a:p>
            <a:pPr algn="l"/>
            <a:r>
              <a:rPr sz="1350" b="1" i="0">
                <a:solidFill>
                  <a:srgbClr val="FFFFFF"/>
                </a:solidFill>
              </a:rPr>
              <a:t>Health Checks</a:t>
            </a:r>
          </a:p>
        </p:txBody>
      </p:sp>
      <p:sp>
        <p:nvSpPr>
          <p:cNvPr id="28" name="TextBox 27"/>
          <p:cNvSpPr txBox="1"/>
          <p:nvPr/>
        </p:nvSpPr>
        <p:spPr>
          <a:xfrm>
            <a:off x="6446520" y="5952744"/>
            <a:ext cx="5349240" cy="749808"/>
          </a:xfrm>
          <a:prstGeom prst="rect">
            <a:avLst/>
          </a:prstGeom>
          <a:noFill/>
        </p:spPr>
        <p:txBody>
          <a:bodyPr wrap="square">
            <a:spAutoFit/>
          </a:bodyPr>
          <a:lstStyle/>
          <a:p>
            <a:pPr algn="l"/>
            <a:r>
              <a:rPr sz="1100" b="0" i="0">
                <a:solidFill>
                  <a:srgbClr val="F7F5EF"/>
                </a:solidFill>
              </a:rPr>
              <a:t>/health/live and /health/ready with DB connectivity check — suitable for Kubernetes liveness/readiness probes.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12169"/>
        </a:solidFill>
        <a:effectLst/>
      </p:bgPr>
    </p:bg>
    <p:spTree>
      <p:nvGrpSpPr>
        <p:cNvPr id="1" name=""/>
        <p:cNvGrpSpPr/>
        <p:nvPr/>
      </p:nvGrpSpPr>
      <p:grpSpPr/>
      <p:sp>
        <p:nvSpPr>
          <p:cNvPr id="2" name="Rectangle 1"/>
          <p:cNvSpPr/>
          <p:nvPr/>
        </p:nvSpPr>
        <p:spPr>
          <a:xfrm>
            <a:off x="0" y="64008"/>
            <a:ext cx="12188952" cy="50292"/>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155680" cy="822960"/>
          </a:xfrm>
          <a:prstGeom prst="rect">
            <a:avLst/>
          </a:prstGeom>
          <a:noFill/>
        </p:spPr>
        <p:txBody>
          <a:bodyPr wrap="square">
            <a:spAutoFit/>
          </a:bodyPr>
          <a:lstStyle/>
          <a:p>
            <a:pPr algn="l"/>
            <a:r>
              <a:rPr sz="3600" b="1" i="0">
                <a:solidFill>
                  <a:srgbClr val="D4A017"/>
                </a:solidFill>
              </a:rPr>
              <a:t>Test Rigour</a:t>
            </a:r>
          </a:p>
        </p:txBody>
      </p:sp>
      <p:sp>
        <p:nvSpPr>
          <p:cNvPr id="4" name="TextBox 3"/>
          <p:cNvSpPr txBox="1"/>
          <p:nvPr/>
        </p:nvSpPr>
        <p:spPr>
          <a:xfrm>
            <a:off x="502920" y="896112"/>
            <a:ext cx="11155680" cy="411480"/>
          </a:xfrm>
          <a:prstGeom prst="rect">
            <a:avLst/>
          </a:prstGeom>
          <a:noFill/>
        </p:spPr>
        <p:txBody>
          <a:bodyPr wrap="square">
            <a:spAutoFit/>
          </a:bodyPr>
          <a:lstStyle/>
          <a:p>
            <a:pPr algn="l"/>
            <a:r>
              <a:rPr sz="1300" b="0" i="0">
                <a:solidFill>
                  <a:srgbClr val="5B6478"/>
                </a:solidFill>
              </a:rPr>
              <a:t>Tests that would actually catch a regression — including the concurrency case</a:t>
            </a:r>
          </a:p>
        </p:txBody>
      </p:sp>
      <p:pic>
        <p:nvPicPr>
          <p:cNvPr id="5" name="Picture 4" descr="test-results.png"/>
          <p:cNvPicPr>
            <a:picLocks noChangeAspect="1"/>
          </p:cNvPicPr>
          <p:nvPr/>
        </p:nvPicPr>
        <p:blipFill>
          <a:blip r:embed="rId2"/>
          <a:stretch>
            <a:fillRect/>
          </a:stretch>
        </p:blipFill>
        <p:spPr>
          <a:xfrm>
            <a:off x="228600" y="1298448"/>
            <a:ext cx="11750040" cy="673822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12169"/>
        </a:solidFill>
        <a:effectLst/>
      </p:bgPr>
    </p:bg>
    <p:spTree>
      <p:nvGrpSpPr>
        <p:cNvPr id="1" name=""/>
        <p:cNvGrpSpPr/>
        <p:nvPr/>
      </p:nvGrpSpPr>
      <p:grpSpPr/>
      <p:sp>
        <p:nvSpPr>
          <p:cNvPr id="2" name="Rectangle 1"/>
          <p:cNvSpPr/>
          <p:nvPr/>
        </p:nvSpPr>
        <p:spPr>
          <a:xfrm>
            <a:off x="0" y="64008"/>
            <a:ext cx="12188952" cy="50292"/>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155680" cy="822960"/>
          </a:xfrm>
          <a:prstGeom prst="rect">
            <a:avLst/>
          </a:prstGeom>
          <a:noFill/>
        </p:spPr>
        <p:txBody>
          <a:bodyPr wrap="square">
            <a:spAutoFit/>
          </a:bodyPr>
          <a:lstStyle/>
          <a:p>
            <a:pPr algn="l"/>
            <a:r>
              <a:rPr sz="3600" b="1" i="0">
                <a:solidFill>
                  <a:srgbClr val="D4A017"/>
                </a:solidFill>
              </a:rPr>
              <a:t>AI Usage &amp; Judgment</a:t>
            </a:r>
          </a:p>
        </p:txBody>
      </p:sp>
      <p:sp>
        <p:nvSpPr>
          <p:cNvPr id="4" name="TextBox 3"/>
          <p:cNvSpPr txBox="1"/>
          <p:nvPr/>
        </p:nvSpPr>
        <p:spPr>
          <a:xfrm>
            <a:off x="502920" y="896112"/>
            <a:ext cx="11155680" cy="411480"/>
          </a:xfrm>
          <a:prstGeom prst="rect">
            <a:avLst/>
          </a:prstGeom>
          <a:noFill/>
        </p:spPr>
        <p:txBody>
          <a:bodyPr wrap="square">
            <a:spAutoFit/>
          </a:bodyPr>
          <a:lstStyle/>
          <a:p>
            <a:pPr algn="l"/>
            <a:r>
              <a:rPr sz="1300" b="0" i="0">
                <a:solidFill>
                  <a:srgbClr val="5B6478"/>
                </a:solidFill>
              </a:rPr>
              <a:t>Used AI to move fast — and caught where it was wrong</a:t>
            </a:r>
          </a:p>
        </p:txBody>
      </p:sp>
      <p:sp>
        <p:nvSpPr>
          <p:cNvPr id="5" name="TextBox 4"/>
          <p:cNvSpPr txBox="1"/>
          <p:nvPr/>
        </p:nvSpPr>
        <p:spPr>
          <a:xfrm>
            <a:off x="365760" y="1298448"/>
            <a:ext cx="11430000" cy="411480"/>
          </a:xfrm>
          <a:prstGeom prst="rect">
            <a:avLst/>
          </a:prstGeom>
          <a:noFill/>
        </p:spPr>
        <p:txBody>
          <a:bodyPr wrap="square">
            <a:spAutoFit/>
          </a:bodyPr>
          <a:lstStyle/>
          <a:p>
            <a:pPr algn="l"/>
            <a:r>
              <a:rPr sz="1300" b="0" i="0">
                <a:solidFill>
                  <a:srgbClr val="5B6478"/>
                </a:solidFill>
              </a:rPr>
              <a:t>Three cases where AI output was wrong for a financial system — and how I caught each one</a:t>
            </a:r>
          </a:p>
        </p:txBody>
      </p:sp>
      <p:sp>
        <p:nvSpPr>
          <p:cNvPr id="6" name="Rounded Rectangle 5"/>
          <p:cNvSpPr/>
          <p:nvPr/>
        </p:nvSpPr>
        <p:spPr>
          <a:xfrm>
            <a:off x="365760" y="1783080"/>
            <a:ext cx="11430000" cy="1463040"/>
          </a:xfrm>
          <a:prstGeom prst="roundRect">
            <a:avLst>
              <a:gd name="adj" fmla="val 30000"/>
            </a:avLst>
          </a:prstGeom>
          <a:solidFill>
            <a:srgbClr val="041B52"/>
          </a:solidFill>
          <a:ln w="19050">
            <a:solidFill>
              <a:srgbClr val="B326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56232"/>
            <a:ext cx="10972800" cy="320040"/>
          </a:xfrm>
          <a:prstGeom prst="rect">
            <a:avLst/>
          </a:prstGeom>
          <a:noFill/>
        </p:spPr>
        <p:txBody>
          <a:bodyPr wrap="square">
            <a:spAutoFit/>
          </a:bodyPr>
          <a:lstStyle/>
          <a:p>
            <a:pPr algn="l"/>
            <a:r>
              <a:rPr sz="1350" b="1" i="0">
                <a:solidFill>
                  <a:srgbClr val="B3261E"/>
                </a:solidFill>
              </a:rPr>
              <a:t>Bug 1 — Runtime crash in validation</a:t>
            </a:r>
          </a:p>
        </p:txBody>
      </p:sp>
      <p:sp>
        <p:nvSpPr>
          <p:cNvPr id="8" name="TextBox 7"/>
          <p:cNvSpPr txBox="1"/>
          <p:nvPr/>
        </p:nvSpPr>
        <p:spPr>
          <a:xfrm>
            <a:off x="548640" y="2130552"/>
            <a:ext cx="10972800" cy="256032"/>
          </a:xfrm>
          <a:prstGeom prst="rect">
            <a:avLst/>
          </a:prstGeom>
          <a:noFill/>
        </p:spPr>
        <p:txBody>
          <a:bodyPr wrap="square">
            <a:spAutoFit/>
          </a:bodyPr>
          <a:lstStyle/>
          <a:p>
            <a:pPr algn="l"/>
            <a:r>
              <a:rPr sz="1200" b="0" i="0">
                <a:solidFill>
                  <a:srgbClr val="F2C94C"/>
                </a:solidFill>
              </a:rPr>
              <a:t>[property: Required] on positional records</a:t>
            </a:r>
          </a:p>
        </p:txBody>
      </p:sp>
      <p:sp>
        <p:nvSpPr>
          <p:cNvPr id="9" name="TextBox 8"/>
          <p:cNvSpPr txBox="1"/>
          <p:nvPr/>
        </p:nvSpPr>
        <p:spPr>
          <a:xfrm>
            <a:off x="548640" y="2350008"/>
            <a:ext cx="6858000" cy="822960"/>
          </a:xfrm>
          <a:prstGeom prst="rect">
            <a:avLst/>
          </a:prstGeom>
          <a:noFill/>
        </p:spPr>
        <p:txBody>
          <a:bodyPr wrap="square">
            <a:spAutoFit/>
          </a:bodyPr>
          <a:lstStyle/>
          <a:p>
            <a:pPr algn="l"/>
            <a:r>
              <a:rPr sz="1100" b="0" i="0">
                <a:solidFill>
                  <a:srgbClr val="FFFFFF"/>
                </a:solidFill>
              </a:rPr>
              <a:t>Applied [property: Required] to record primary-constructor params. Compiled fine. Crashed at runtime on every request with InvalidOperationException — validation metadata on record properties is silently ignored by ASP.NET Core.</a:t>
            </a:r>
          </a:p>
        </p:txBody>
      </p:sp>
      <p:sp>
        <p:nvSpPr>
          <p:cNvPr id="10" name="Rounded Rectangle 9"/>
          <p:cNvSpPr/>
          <p:nvPr/>
        </p:nvSpPr>
        <p:spPr>
          <a:xfrm>
            <a:off x="7589520" y="2286000"/>
            <a:ext cx="4023360" cy="914400"/>
          </a:xfrm>
          <a:prstGeom prst="roundRect">
            <a:avLst>
              <a:gd name="adj" fmla="val 30000"/>
            </a:avLst>
          </a:prstGeom>
          <a:solidFill>
            <a:srgbClr val="0A2515"/>
          </a:solidFill>
          <a:ln w="19050">
            <a:solidFill>
              <a:srgbClr val="1C8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2331720"/>
            <a:ext cx="3749039" cy="256032"/>
          </a:xfrm>
          <a:prstGeom prst="rect">
            <a:avLst/>
          </a:prstGeom>
          <a:noFill/>
        </p:spPr>
        <p:txBody>
          <a:bodyPr wrap="square">
            <a:spAutoFit/>
          </a:bodyPr>
          <a:lstStyle/>
          <a:p>
            <a:pPr algn="l"/>
            <a:r>
              <a:rPr sz="1100" b="1" i="0">
                <a:solidFill>
                  <a:srgbClr val="1C8B5A"/>
                </a:solidFill>
              </a:rPr>
              <a:t>✓  Fix</a:t>
            </a:r>
          </a:p>
        </p:txBody>
      </p:sp>
      <p:sp>
        <p:nvSpPr>
          <p:cNvPr id="12" name="TextBox 11"/>
          <p:cNvSpPr txBox="1"/>
          <p:nvPr/>
        </p:nvSpPr>
        <p:spPr>
          <a:xfrm>
            <a:off x="7726679" y="2587752"/>
            <a:ext cx="3749039" cy="548640"/>
          </a:xfrm>
          <a:prstGeom prst="rect">
            <a:avLst/>
          </a:prstGeom>
          <a:noFill/>
        </p:spPr>
        <p:txBody>
          <a:bodyPr wrap="square">
            <a:spAutoFit/>
          </a:bodyPr>
          <a:lstStyle/>
          <a:p>
            <a:pPr algn="l"/>
            <a:r>
              <a:rPr sz="1050" b="0" i="0">
                <a:solidFill>
                  <a:srgbClr val="FFFFFF"/>
                </a:solidFill>
              </a:rPr>
              <a:t>Caught by running the service and hitting endpoints. Fixed by removing the property: target so attributes bind to the constructor parameter.</a:t>
            </a:r>
          </a:p>
        </p:txBody>
      </p:sp>
      <p:sp>
        <p:nvSpPr>
          <p:cNvPr id="13" name="Rounded Rectangle 12"/>
          <p:cNvSpPr/>
          <p:nvPr/>
        </p:nvSpPr>
        <p:spPr>
          <a:xfrm>
            <a:off x="365760" y="3383280"/>
            <a:ext cx="11430000" cy="1463040"/>
          </a:xfrm>
          <a:prstGeom prst="roundRect">
            <a:avLst>
              <a:gd name="adj" fmla="val 30000"/>
            </a:avLst>
          </a:prstGeom>
          <a:solidFill>
            <a:srgbClr val="041B52"/>
          </a:solidFill>
          <a:ln w="19050">
            <a:solidFill>
              <a:srgbClr val="B326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456432"/>
            <a:ext cx="10972800" cy="320040"/>
          </a:xfrm>
          <a:prstGeom prst="rect">
            <a:avLst/>
          </a:prstGeom>
          <a:noFill/>
        </p:spPr>
        <p:txBody>
          <a:bodyPr wrap="square">
            <a:spAutoFit/>
          </a:bodyPr>
          <a:lstStyle/>
          <a:p>
            <a:pPr algn="l"/>
            <a:r>
              <a:rPr sz="1350" b="1" i="0">
                <a:solidFill>
                  <a:srgbClr val="B3261E"/>
                </a:solidFill>
              </a:rPr>
              <a:t>Bug 2 — Concurrency lock silently broken</a:t>
            </a:r>
          </a:p>
        </p:txBody>
      </p:sp>
      <p:sp>
        <p:nvSpPr>
          <p:cNvPr id="15" name="TextBox 14"/>
          <p:cNvSpPr txBox="1"/>
          <p:nvPr/>
        </p:nvSpPr>
        <p:spPr>
          <a:xfrm>
            <a:off x="548640" y="3730752"/>
            <a:ext cx="10972800" cy="256032"/>
          </a:xfrm>
          <a:prstGeom prst="rect">
            <a:avLst/>
          </a:prstGeom>
          <a:noFill/>
        </p:spPr>
        <p:txBody>
          <a:bodyPr wrap="square">
            <a:spAutoFit/>
          </a:bodyPr>
          <a:lstStyle/>
          <a:p>
            <a:pPr algn="l"/>
            <a:r>
              <a:rPr sz="1200" b="0" i="0">
                <a:solidFill>
                  <a:srgbClr val="F2C94C"/>
                </a:solidFill>
              </a:rPr>
              <a:t>SELECT * … FOR UPDATE missing xmin</a:t>
            </a:r>
          </a:p>
        </p:txBody>
      </p:sp>
      <p:sp>
        <p:nvSpPr>
          <p:cNvPr id="16" name="TextBox 15"/>
          <p:cNvSpPr txBox="1"/>
          <p:nvPr/>
        </p:nvSpPr>
        <p:spPr>
          <a:xfrm>
            <a:off x="548640" y="3950208"/>
            <a:ext cx="6858000" cy="822960"/>
          </a:xfrm>
          <a:prstGeom prst="rect">
            <a:avLst/>
          </a:prstGeom>
          <a:noFill/>
        </p:spPr>
        <p:txBody>
          <a:bodyPr wrap="square">
            <a:spAutoFit/>
          </a:bodyPr>
          <a:lstStyle/>
          <a:p>
            <a:pPr algn="l"/>
            <a:r>
              <a:rPr sz="1100" b="0" i="0">
                <a:solidFill>
                  <a:srgbClr val="FFFFFF"/>
                </a:solidFill>
              </a:rPr>
              <a:t>AI generated: FromSqlRaw("SELECT * FROM wallets … FOR UPDATE"). PostgreSQL system columns (xmin) are NOT returned by SELECT *. EF tried to project xmin as the concurrency token → 'column n.xmin does not exist' on every transfer.</a:t>
            </a:r>
          </a:p>
        </p:txBody>
      </p:sp>
      <p:sp>
        <p:nvSpPr>
          <p:cNvPr id="17" name="Rounded Rectangle 16"/>
          <p:cNvSpPr/>
          <p:nvPr/>
        </p:nvSpPr>
        <p:spPr>
          <a:xfrm>
            <a:off x="7589520" y="3886200"/>
            <a:ext cx="4023360" cy="914400"/>
          </a:xfrm>
          <a:prstGeom prst="roundRect">
            <a:avLst>
              <a:gd name="adj" fmla="val 30000"/>
            </a:avLst>
          </a:prstGeom>
          <a:solidFill>
            <a:srgbClr val="0A2515"/>
          </a:solidFill>
          <a:ln w="19050">
            <a:solidFill>
              <a:srgbClr val="1C8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3931920"/>
            <a:ext cx="3749039" cy="256032"/>
          </a:xfrm>
          <a:prstGeom prst="rect">
            <a:avLst/>
          </a:prstGeom>
          <a:noFill/>
        </p:spPr>
        <p:txBody>
          <a:bodyPr wrap="square">
            <a:spAutoFit/>
          </a:bodyPr>
          <a:lstStyle/>
          <a:p>
            <a:pPr algn="l"/>
            <a:r>
              <a:rPr sz="1100" b="1" i="0">
                <a:solidFill>
                  <a:srgbClr val="1C8B5A"/>
                </a:solidFill>
              </a:rPr>
              <a:t>✓  Fix</a:t>
            </a:r>
          </a:p>
        </p:txBody>
      </p:sp>
      <p:sp>
        <p:nvSpPr>
          <p:cNvPr id="19" name="TextBox 18"/>
          <p:cNvSpPr txBox="1"/>
          <p:nvPr/>
        </p:nvSpPr>
        <p:spPr>
          <a:xfrm>
            <a:off x="7726679" y="4187952"/>
            <a:ext cx="3749039" cy="548640"/>
          </a:xfrm>
          <a:prstGeom prst="rect">
            <a:avLst/>
          </a:prstGeom>
          <a:noFill/>
        </p:spPr>
        <p:txBody>
          <a:bodyPr wrap="square">
            <a:spAutoFit/>
          </a:bodyPr>
          <a:lstStyle/>
          <a:p>
            <a:pPr algn="l"/>
            <a:r>
              <a:rPr sz="1050" b="0" i="0">
                <a:solidFill>
                  <a:srgbClr val="FFFFFF"/>
                </a:solidFill>
              </a:rPr>
              <a:t>Caught by exercising credit/transfer against the live container. The fix is explicit column listing including xmin. Without the concurrency token, all optimistic-lock protection is silently lost — a critical financial correctness defect.</a:t>
            </a:r>
          </a:p>
        </p:txBody>
      </p:sp>
      <p:sp>
        <p:nvSpPr>
          <p:cNvPr id="20" name="Rounded Rectangle 19"/>
          <p:cNvSpPr/>
          <p:nvPr/>
        </p:nvSpPr>
        <p:spPr>
          <a:xfrm>
            <a:off x="365760" y="4983480"/>
            <a:ext cx="11430000" cy="1463040"/>
          </a:xfrm>
          <a:prstGeom prst="roundRect">
            <a:avLst>
              <a:gd name="adj" fmla="val 30000"/>
            </a:avLst>
          </a:prstGeom>
          <a:solidFill>
            <a:srgbClr val="041B52"/>
          </a:solidFill>
          <a:ln w="19050">
            <a:solidFill>
              <a:srgbClr val="B326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056632"/>
            <a:ext cx="10972800" cy="320040"/>
          </a:xfrm>
          <a:prstGeom prst="rect">
            <a:avLst/>
          </a:prstGeom>
          <a:noFill/>
        </p:spPr>
        <p:txBody>
          <a:bodyPr wrap="square">
            <a:spAutoFit/>
          </a:bodyPr>
          <a:lstStyle/>
          <a:p>
            <a:pPr algn="l"/>
            <a:r>
              <a:rPr sz="1350" b="1" i="0">
                <a:solidFill>
                  <a:srgbClr val="B3261E"/>
                </a:solidFill>
              </a:rPr>
              <a:t>Bug 3 — Rate limiter bucketed all users together</a:t>
            </a:r>
          </a:p>
        </p:txBody>
      </p:sp>
      <p:sp>
        <p:nvSpPr>
          <p:cNvPr id="22" name="TextBox 21"/>
          <p:cNvSpPr txBox="1"/>
          <p:nvPr/>
        </p:nvSpPr>
        <p:spPr>
          <a:xfrm>
            <a:off x="548640" y="5330952"/>
            <a:ext cx="10972800" cy="256032"/>
          </a:xfrm>
          <a:prstGeom prst="rect">
            <a:avLst/>
          </a:prstGeom>
          <a:noFill/>
        </p:spPr>
        <p:txBody>
          <a:bodyPr wrap="square">
            <a:spAutoFit/>
          </a:bodyPr>
          <a:lstStyle/>
          <a:p>
            <a:pPr algn="l"/>
            <a:r>
              <a:rPr sz="1200" b="0" i="0">
                <a:solidFill>
                  <a:srgbClr val="F2C94C"/>
                </a:solidFill>
              </a:rPr>
              <a:t>httpContext.User.Identity?.Name is null for JWT sub</a:t>
            </a:r>
          </a:p>
        </p:txBody>
      </p:sp>
      <p:sp>
        <p:nvSpPr>
          <p:cNvPr id="23" name="TextBox 22"/>
          <p:cNvSpPr txBox="1"/>
          <p:nvPr/>
        </p:nvSpPr>
        <p:spPr>
          <a:xfrm>
            <a:off x="548640" y="5550408"/>
            <a:ext cx="6858000" cy="822960"/>
          </a:xfrm>
          <a:prstGeom prst="rect">
            <a:avLst/>
          </a:prstGeom>
          <a:noFill/>
        </p:spPr>
        <p:txBody>
          <a:bodyPr wrap="square">
            <a:spAutoFit/>
          </a:bodyPr>
          <a:lstStyle/>
          <a:p>
            <a:pPr algn="l"/>
            <a:r>
              <a:rPr sz="1100" b="0" i="0">
                <a:solidFill>
                  <a:srgbClr val="FFFFFF"/>
                </a:solidFill>
              </a:rPr>
              <a:t>AI partitioned the rate limiter by Identity.Name. JwtBearer maps the 'sub' claim to ClaimTypes.NameIdentifier, not Identity.Name — so Name was null for all users. Every caller shared the same IP-based bucket.</a:t>
            </a:r>
          </a:p>
        </p:txBody>
      </p:sp>
      <p:sp>
        <p:nvSpPr>
          <p:cNvPr id="24" name="Rounded Rectangle 23"/>
          <p:cNvSpPr/>
          <p:nvPr/>
        </p:nvSpPr>
        <p:spPr>
          <a:xfrm>
            <a:off x="7589520" y="5486400"/>
            <a:ext cx="4023360" cy="914400"/>
          </a:xfrm>
          <a:prstGeom prst="roundRect">
            <a:avLst>
              <a:gd name="adj" fmla="val 30000"/>
            </a:avLst>
          </a:prstGeom>
          <a:solidFill>
            <a:srgbClr val="0A2515"/>
          </a:solidFill>
          <a:ln w="19050">
            <a:solidFill>
              <a:srgbClr val="1C8B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26679" y="5532120"/>
            <a:ext cx="3749039" cy="256032"/>
          </a:xfrm>
          <a:prstGeom prst="rect">
            <a:avLst/>
          </a:prstGeom>
          <a:noFill/>
        </p:spPr>
        <p:txBody>
          <a:bodyPr wrap="square">
            <a:spAutoFit/>
          </a:bodyPr>
          <a:lstStyle/>
          <a:p>
            <a:pPr algn="l"/>
            <a:r>
              <a:rPr sz="1100" b="1" i="0">
                <a:solidFill>
                  <a:srgbClr val="1C8B5A"/>
                </a:solidFill>
              </a:rPr>
              <a:t>✓  Fix</a:t>
            </a:r>
          </a:p>
        </p:txBody>
      </p:sp>
      <p:sp>
        <p:nvSpPr>
          <p:cNvPr id="26" name="TextBox 25"/>
          <p:cNvSpPr txBox="1"/>
          <p:nvPr/>
        </p:nvSpPr>
        <p:spPr>
          <a:xfrm>
            <a:off x="7726679" y="5788152"/>
            <a:ext cx="3749039" cy="548640"/>
          </a:xfrm>
          <a:prstGeom prst="rect">
            <a:avLst/>
          </a:prstGeom>
          <a:noFill/>
        </p:spPr>
        <p:txBody>
          <a:bodyPr wrap="square">
            <a:spAutoFit/>
          </a:bodyPr>
          <a:lstStyle/>
          <a:p>
            <a:pPr algn="l"/>
            <a:r>
              <a:rPr sz="1050" b="0" i="0">
                <a:solidFill>
                  <a:srgbClr val="FFFFFF"/>
                </a:solidFill>
              </a:rPr>
              <a:t>Caught by the concurrency load test: expected 50 successes, got ~15, with TooManyRequests responses. Fixed by partitioning on ClaimTypes.NameIdentifier ?? 'sub' ?? Name ?? IP.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12169"/>
        </a:solidFill>
        <a:effectLst/>
      </p:bgPr>
    </p:bg>
    <p:spTree>
      <p:nvGrpSpPr>
        <p:cNvPr id="1" name=""/>
        <p:cNvGrpSpPr/>
        <p:nvPr/>
      </p:nvGrpSpPr>
      <p:grpSpPr/>
      <p:sp>
        <p:nvSpPr>
          <p:cNvPr id="2" name="Rectangle 1"/>
          <p:cNvSpPr/>
          <p:nvPr/>
        </p:nvSpPr>
        <p:spPr>
          <a:xfrm>
            <a:off x="0" y="64008"/>
            <a:ext cx="12188952" cy="50292"/>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155680" cy="822960"/>
          </a:xfrm>
          <a:prstGeom prst="rect">
            <a:avLst/>
          </a:prstGeom>
          <a:noFill/>
        </p:spPr>
        <p:txBody>
          <a:bodyPr wrap="square">
            <a:spAutoFit/>
          </a:bodyPr>
          <a:lstStyle/>
          <a:p>
            <a:pPr algn="l"/>
            <a:r>
              <a:rPr sz="3600" b="1" i="0">
                <a:solidFill>
                  <a:srgbClr val="D4A017"/>
                </a:solidFill>
              </a:rPr>
              <a:t>Operating Context</a:t>
            </a:r>
          </a:p>
        </p:txBody>
      </p:sp>
      <p:sp>
        <p:nvSpPr>
          <p:cNvPr id="4" name="TextBox 3"/>
          <p:cNvSpPr txBox="1"/>
          <p:nvPr/>
        </p:nvSpPr>
        <p:spPr>
          <a:xfrm>
            <a:off x="502920" y="896112"/>
            <a:ext cx="11155680" cy="411480"/>
          </a:xfrm>
          <a:prstGeom prst="rect">
            <a:avLst/>
          </a:prstGeom>
          <a:noFill/>
        </p:spPr>
        <p:txBody>
          <a:bodyPr wrap="square">
            <a:spAutoFit/>
          </a:bodyPr>
          <a:lstStyle/>
          <a:p>
            <a:pPr algn="l"/>
            <a:r>
              <a:rPr sz="1300" b="0" i="0">
                <a:solidFill>
                  <a:srgbClr val="5B6478"/>
                </a:solidFill>
              </a:rPr>
              <a:t>Where the Nigerian fintech constraints touch this design specifically</a:t>
            </a:r>
          </a:p>
        </p:txBody>
      </p:sp>
      <p:sp>
        <p:nvSpPr>
          <p:cNvPr id="5" name="Rounded Rectangle 4"/>
          <p:cNvSpPr/>
          <p:nvPr/>
        </p:nvSpPr>
        <p:spPr>
          <a:xfrm>
            <a:off x="365760" y="1417320"/>
            <a:ext cx="5623560" cy="160020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508760"/>
            <a:ext cx="5349240" cy="347472"/>
          </a:xfrm>
          <a:prstGeom prst="rect">
            <a:avLst/>
          </a:prstGeom>
          <a:noFill/>
        </p:spPr>
        <p:txBody>
          <a:bodyPr wrap="square">
            <a:spAutoFit/>
          </a:bodyPr>
          <a:lstStyle/>
          <a:p>
            <a:pPr algn="l"/>
            <a:r>
              <a:rPr sz="1350" b="1" i="0">
                <a:solidFill>
                  <a:srgbClr val="D4A017"/>
                </a:solidFill>
              </a:rPr>
              <a:t>₦ in kobo · no float</a:t>
            </a:r>
          </a:p>
        </p:txBody>
      </p:sp>
      <p:sp>
        <p:nvSpPr>
          <p:cNvPr id="7" name="TextBox 6"/>
          <p:cNvSpPr txBox="1"/>
          <p:nvPr/>
        </p:nvSpPr>
        <p:spPr>
          <a:xfrm>
            <a:off x="502920" y="1856232"/>
            <a:ext cx="5349240" cy="960120"/>
          </a:xfrm>
          <a:prstGeom prst="rect">
            <a:avLst/>
          </a:prstGeom>
          <a:noFill/>
        </p:spPr>
        <p:txBody>
          <a:bodyPr wrap="square">
            <a:spAutoFit/>
          </a:bodyPr>
          <a:lstStyle/>
          <a:p>
            <a:pPr algn="l"/>
            <a:r>
              <a:rPr sz="1100" b="0" i="0">
                <a:solidFill>
                  <a:srgbClr val="F7F5EF"/>
                </a:solidFill>
              </a:rPr>
              <a:t>Deepest constraint. Already enforced end-to-end. Critical future note: any feature that divides kobo (fee splits, interest, FX) produces remainders. Document who absorbs the leftover kobo before merging.</a:t>
            </a:r>
          </a:p>
        </p:txBody>
      </p:sp>
      <p:sp>
        <p:nvSpPr>
          <p:cNvPr id="8" name="Rounded Rectangle 7"/>
          <p:cNvSpPr/>
          <p:nvPr/>
        </p:nvSpPr>
        <p:spPr>
          <a:xfrm>
            <a:off x="3749040" y="1490472"/>
            <a:ext cx="2103120" cy="292608"/>
          </a:xfrm>
          <a:prstGeom prst="roundRect">
            <a:avLst>
              <a:gd name="adj" fmla="val 30000"/>
            </a:avLst>
          </a:prstGeom>
          <a:solidFill>
            <a:srgbClr val="1C8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94760" y="1508760"/>
            <a:ext cx="2011680" cy="256032"/>
          </a:xfrm>
          <a:prstGeom prst="rect">
            <a:avLst/>
          </a:prstGeom>
          <a:noFill/>
        </p:spPr>
        <p:txBody>
          <a:bodyPr wrap="square">
            <a:spAutoFit/>
          </a:bodyPr>
          <a:lstStyle/>
          <a:p>
            <a:pPr algn="ctr"/>
            <a:r>
              <a:rPr sz="950" b="1" i="0">
                <a:solidFill>
                  <a:srgbClr val="FFFFFF"/>
                </a:solidFill>
              </a:rPr>
              <a:t>Implemented ✓</a:t>
            </a:r>
          </a:p>
        </p:txBody>
      </p:sp>
      <p:sp>
        <p:nvSpPr>
          <p:cNvPr id="10" name="Rounded Rectangle 9"/>
          <p:cNvSpPr/>
          <p:nvPr/>
        </p:nvSpPr>
        <p:spPr>
          <a:xfrm>
            <a:off x="6309360" y="1417320"/>
            <a:ext cx="5623560" cy="160020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508760"/>
            <a:ext cx="5349240" cy="347472"/>
          </a:xfrm>
          <a:prstGeom prst="rect">
            <a:avLst/>
          </a:prstGeom>
          <a:noFill/>
        </p:spPr>
        <p:txBody>
          <a:bodyPr wrap="square">
            <a:spAutoFit/>
          </a:bodyPr>
          <a:lstStyle/>
          <a:p>
            <a:pPr algn="l"/>
            <a:r>
              <a:rPr sz="1350" b="1" i="0">
                <a:solidFill>
                  <a:srgbClr val="D4A017"/>
                </a:solidFill>
              </a:rPr>
              <a:t>Tiered KYC (BVN / NIN)</a:t>
            </a:r>
          </a:p>
        </p:txBody>
      </p:sp>
      <p:sp>
        <p:nvSpPr>
          <p:cNvPr id="12" name="TextBox 11"/>
          <p:cNvSpPr txBox="1"/>
          <p:nvPr/>
        </p:nvSpPr>
        <p:spPr>
          <a:xfrm>
            <a:off x="6446520" y="1856232"/>
            <a:ext cx="5349240" cy="960120"/>
          </a:xfrm>
          <a:prstGeom prst="rect">
            <a:avLst/>
          </a:prstGeom>
          <a:noFill/>
        </p:spPr>
        <p:txBody>
          <a:bodyPr wrap="square">
            <a:spAutoFit/>
          </a:bodyPr>
          <a:lstStyle/>
          <a:p>
            <a:pPr algn="l"/>
            <a:r>
              <a:rPr sz="1100" b="0" i="0">
                <a:solidFill>
                  <a:srgbClr val="F7F5EF"/>
                </a:solidFill>
              </a:rPr>
              <a:t>Daily limit is a function of KYC tier, not a global constant. DailyOutboundLimitKobo should resolve per-wallet from its KycTier field. Tier 1 (phone-only) has lower CBN caps; Tier 3 (full KYC) higher. Attaches to the limit check in TransferAsync.</a:t>
            </a:r>
          </a:p>
        </p:txBody>
      </p:sp>
      <p:sp>
        <p:nvSpPr>
          <p:cNvPr id="13" name="Rounded Rectangle 12"/>
          <p:cNvSpPr/>
          <p:nvPr/>
        </p:nvSpPr>
        <p:spPr>
          <a:xfrm>
            <a:off x="9692640" y="1490472"/>
            <a:ext cx="2103120" cy="292608"/>
          </a:xfrm>
          <a:prstGeom prst="roundRect">
            <a:avLst>
              <a:gd name="adj" fmla="val 30000"/>
            </a:avLst>
          </a:prstGeom>
          <a:solidFill>
            <a:srgbClr val="5B4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38360" y="1508760"/>
            <a:ext cx="2011680" cy="256032"/>
          </a:xfrm>
          <a:prstGeom prst="rect">
            <a:avLst/>
          </a:prstGeom>
          <a:noFill/>
        </p:spPr>
        <p:txBody>
          <a:bodyPr wrap="square">
            <a:spAutoFit/>
          </a:bodyPr>
          <a:lstStyle/>
          <a:p>
            <a:pPr algn="ctr"/>
            <a:r>
              <a:rPr sz="950" b="1" i="0">
                <a:solidFill>
                  <a:srgbClr val="FFFFFF"/>
                </a:solidFill>
              </a:rPr>
              <a:t>Seam identified — next build</a:t>
            </a:r>
          </a:p>
        </p:txBody>
      </p:sp>
      <p:sp>
        <p:nvSpPr>
          <p:cNvPr id="15" name="Rounded Rectangle 14"/>
          <p:cNvSpPr/>
          <p:nvPr/>
        </p:nvSpPr>
        <p:spPr>
          <a:xfrm>
            <a:off x="365760" y="3154680"/>
            <a:ext cx="5623560" cy="160020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3246120"/>
            <a:ext cx="5349240" cy="347472"/>
          </a:xfrm>
          <a:prstGeom prst="rect">
            <a:avLst/>
          </a:prstGeom>
          <a:noFill/>
        </p:spPr>
        <p:txBody>
          <a:bodyPr wrap="square">
            <a:spAutoFit/>
          </a:bodyPr>
          <a:lstStyle/>
          <a:p>
            <a:pPr algn="l"/>
            <a:r>
              <a:rPr sz="1350" b="1" i="0">
                <a:solidFill>
                  <a:srgbClr val="D4A017"/>
                </a:solidFill>
              </a:rPr>
              <a:t>NIBSS NIP rails</a:t>
            </a:r>
          </a:p>
        </p:txBody>
      </p:sp>
      <p:sp>
        <p:nvSpPr>
          <p:cNvPr id="17" name="TextBox 16"/>
          <p:cNvSpPr txBox="1"/>
          <p:nvPr/>
        </p:nvSpPr>
        <p:spPr>
          <a:xfrm>
            <a:off x="502920" y="3593592"/>
            <a:ext cx="5349240" cy="960120"/>
          </a:xfrm>
          <a:prstGeom prst="rect">
            <a:avLst/>
          </a:prstGeom>
          <a:noFill/>
        </p:spPr>
        <p:txBody>
          <a:bodyPr wrap="square">
            <a:spAutoFit/>
          </a:bodyPr>
          <a:lstStyle/>
          <a:p>
            <a:pPr algn="l"/>
            <a:r>
              <a:rPr sz="1100" b="0" i="0">
                <a:solidFill>
                  <a:srgbClr val="F7F5EF"/>
                </a:solidFill>
              </a:rPr>
              <a:t>Inbound credit is an external notification — must be idempotent (NIBSS can resend, keyed on NIP session ID not a client header). Outbound transfer to another bank is pending → settled/failed, not instant-final. The outbox pattern is the right foundation for the settlement callback.</a:t>
            </a:r>
          </a:p>
        </p:txBody>
      </p:sp>
      <p:sp>
        <p:nvSpPr>
          <p:cNvPr id="18" name="Rounded Rectangle 17"/>
          <p:cNvSpPr/>
          <p:nvPr/>
        </p:nvSpPr>
        <p:spPr>
          <a:xfrm>
            <a:off x="3749040" y="3227832"/>
            <a:ext cx="2103120" cy="292608"/>
          </a:xfrm>
          <a:prstGeom prst="roundRect">
            <a:avLst>
              <a:gd name="adj" fmla="val 30000"/>
            </a:avLst>
          </a:prstGeom>
          <a:solidFill>
            <a:srgbClr val="5B4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94760" y="3246120"/>
            <a:ext cx="2011680" cy="256032"/>
          </a:xfrm>
          <a:prstGeom prst="rect">
            <a:avLst/>
          </a:prstGeom>
          <a:noFill/>
        </p:spPr>
        <p:txBody>
          <a:bodyPr wrap="square">
            <a:spAutoFit/>
          </a:bodyPr>
          <a:lstStyle/>
          <a:p>
            <a:pPr algn="ctr"/>
            <a:r>
              <a:rPr sz="950" b="1" i="0">
                <a:solidFill>
                  <a:srgbClr val="FFFFFF"/>
                </a:solidFill>
              </a:rPr>
              <a:t>Outbox ready, states deferred</a:t>
            </a:r>
          </a:p>
        </p:txBody>
      </p:sp>
      <p:sp>
        <p:nvSpPr>
          <p:cNvPr id="20" name="Rounded Rectangle 19"/>
          <p:cNvSpPr/>
          <p:nvPr/>
        </p:nvSpPr>
        <p:spPr>
          <a:xfrm>
            <a:off x="6309360" y="3154680"/>
            <a:ext cx="5623560" cy="160020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3246120"/>
            <a:ext cx="5349240" cy="347472"/>
          </a:xfrm>
          <a:prstGeom prst="rect">
            <a:avLst/>
          </a:prstGeom>
          <a:noFill/>
        </p:spPr>
        <p:txBody>
          <a:bodyPr wrap="square">
            <a:spAutoFit/>
          </a:bodyPr>
          <a:lstStyle/>
          <a:p>
            <a:pPr algn="l"/>
            <a:r>
              <a:rPr sz="1350" b="1" i="0">
                <a:solidFill>
                  <a:srgbClr val="D4A017"/>
                </a:solidFill>
              </a:rPr>
              <a:t>USSD *894#</a:t>
            </a:r>
          </a:p>
        </p:txBody>
      </p:sp>
      <p:sp>
        <p:nvSpPr>
          <p:cNvPr id="22" name="TextBox 21"/>
          <p:cNvSpPr txBox="1"/>
          <p:nvPr/>
        </p:nvSpPr>
        <p:spPr>
          <a:xfrm>
            <a:off x="6446520" y="3593592"/>
            <a:ext cx="5349240" cy="960120"/>
          </a:xfrm>
          <a:prstGeom prst="rect">
            <a:avLst/>
          </a:prstGeom>
          <a:noFill/>
        </p:spPr>
        <p:txBody>
          <a:bodyPr wrap="square">
            <a:spAutoFit/>
          </a:bodyPr>
          <a:lstStyle/>
          <a:p>
            <a:pPr algn="l"/>
            <a:r>
              <a:rPr sz="1100" b="0" i="0">
                <a:solidFill>
                  <a:srgbClr val="F7F5EF"/>
                </a:solidFill>
              </a:rPr>
              <a:t>No JWT for feature phones — USSD gateway authenticates by MSISDN + PIN, calls API on the user's behalf. Naira→kobo conversion must be server-side (USSD sends plain text amounts). Already canonical: UI converts for convenience, API always receives kobo.</a:t>
            </a:r>
          </a:p>
        </p:txBody>
      </p:sp>
      <p:sp>
        <p:nvSpPr>
          <p:cNvPr id="23" name="Rounded Rectangle 22"/>
          <p:cNvSpPr/>
          <p:nvPr/>
        </p:nvSpPr>
        <p:spPr>
          <a:xfrm>
            <a:off x="9692640" y="3227832"/>
            <a:ext cx="2103120" cy="292608"/>
          </a:xfrm>
          <a:prstGeom prst="roundRect">
            <a:avLst>
              <a:gd name="adj" fmla="val 30000"/>
            </a:avLst>
          </a:prstGeom>
          <a:solidFill>
            <a:srgbClr val="1C8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38360" y="3246120"/>
            <a:ext cx="2011680" cy="256032"/>
          </a:xfrm>
          <a:prstGeom prst="rect">
            <a:avLst/>
          </a:prstGeom>
          <a:noFill/>
        </p:spPr>
        <p:txBody>
          <a:bodyPr wrap="square">
            <a:spAutoFit/>
          </a:bodyPr>
          <a:lstStyle/>
          <a:p>
            <a:pPr algn="ctr"/>
            <a:r>
              <a:rPr sz="950" b="1" i="0">
                <a:solidFill>
                  <a:srgbClr val="FFFFFF"/>
                </a:solidFill>
              </a:rPr>
              <a:t>Server-side kobo ✓</a:t>
            </a:r>
          </a:p>
        </p:txBody>
      </p:sp>
      <p:sp>
        <p:nvSpPr>
          <p:cNvPr id="25" name="Rounded Rectangle 24"/>
          <p:cNvSpPr/>
          <p:nvPr/>
        </p:nvSpPr>
        <p:spPr>
          <a:xfrm>
            <a:off x="365760" y="4892040"/>
            <a:ext cx="5623560" cy="160020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4983480"/>
            <a:ext cx="5349240" cy="347472"/>
          </a:xfrm>
          <a:prstGeom prst="rect">
            <a:avLst/>
          </a:prstGeom>
          <a:noFill/>
        </p:spPr>
        <p:txBody>
          <a:bodyPr wrap="square">
            <a:spAutoFit/>
          </a:bodyPr>
          <a:lstStyle/>
          <a:p>
            <a:pPr algn="l"/>
            <a:r>
              <a:rPr sz="1350" b="1" i="0">
                <a:solidFill>
                  <a:srgbClr val="D4A017"/>
                </a:solidFill>
              </a:rPr>
              <a:t>NDPA 2023 (data protection)</a:t>
            </a:r>
          </a:p>
        </p:txBody>
      </p:sp>
      <p:sp>
        <p:nvSpPr>
          <p:cNvPr id="27" name="TextBox 26"/>
          <p:cNvSpPr txBox="1"/>
          <p:nvPr/>
        </p:nvSpPr>
        <p:spPr>
          <a:xfrm>
            <a:off x="502920" y="5330952"/>
            <a:ext cx="5349240" cy="960120"/>
          </a:xfrm>
          <a:prstGeom prst="rect">
            <a:avLst/>
          </a:prstGeom>
          <a:noFill/>
        </p:spPr>
        <p:txBody>
          <a:bodyPr wrap="square">
            <a:spAutoFit/>
          </a:bodyPr>
          <a:lstStyle/>
          <a:p>
            <a:pPr algn="l"/>
            <a:r>
              <a:rPr sz="1100" b="0" i="0">
                <a:solidFill>
                  <a:srgbClr val="F7F5EF"/>
                </a:solidFill>
              </a:rPr>
              <a:t>Audit log stores correlationId and customerId — not raw BVN/NIN. Immutability of audit_logs is in tension with a data-subject erasure request; resolve by storing identifiers by reference and pseudonymising. Define a retention window.</a:t>
            </a:r>
          </a:p>
        </p:txBody>
      </p:sp>
      <p:sp>
        <p:nvSpPr>
          <p:cNvPr id="28" name="Rounded Rectangle 27"/>
          <p:cNvSpPr/>
          <p:nvPr/>
        </p:nvSpPr>
        <p:spPr>
          <a:xfrm>
            <a:off x="3749040" y="4965192"/>
            <a:ext cx="2103120" cy="292608"/>
          </a:xfrm>
          <a:prstGeom prst="roundRect">
            <a:avLst>
              <a:gd name="adj" fmla="val 30000"/>
            </a:avLst>
          </a:prstGeom>
          <a:solidFill>
            <a:srgbClr val="5B4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94760" y="4983480"/>
            <a:ext cx="2011680" cy="256032"/>
          </a:xfrm>
          <a:prstGeom prst="rect">
            <a:avLst/>
          </a:prstGeom>
          <a:noFill/>
        </p:spPr>
        <p:txBody>
          <a:bodyPr wrap="square">
            <a:spAutoFit/>
          </a:bodyPr>
          <a:lstStyle/>
          <a:p>
            <a:pPr algn="ctr"/>
            <a:r>
              <a:rPr sz="950" b="1" i="0">
                <a:solidFill>
                  <a:srgbClr val="FFFFFF"/>
                </a:solidFill>
              </a:rPr>
              <a:t>Schema correct · retention TBD</a:t>
            </a:r>
          </a:p>
        </p:txBody>
      </p:sp>
      <p:sp>
        <p:nvSpPr>
          <p:cNvPr id="30" name="Rounded Rectangle 29"/>
          <p:cNvSpPr/>
          <p:nvPr/>
        </p:nvSpPr>
        <p:spPr>
          <a:xfrm>
            <a:off x="6309360" y="4892040"/>
            <a:ext cx="5623560" cy="160020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4983480"/>
            <a:ext cx="5349240" cy="347472"/>
          </a:xfrm>
          <a:prstGeom prst="rect">
            <a:avLst/>
          </a:prstGeom>
          <a:noFill/>
        </p:spPr>
        <p:txBody>
          <a:bodyPr wrap="square">
            <a:spAutoFit/>
          </a:bodyPr>
          <a:lstStyle/>
          <a:p>
            <a:pPr algn="l"/>
            <a:r>
              <a:rPr sz="1350" b="1" i="0">
                <a:solidFill>
                  <a:srgbClr val="D4A017"/>
                </a:solidFill>
              </a:rPr>
              <a:t>CBN consumer protection</a:t>
            </a:r>
          </a:p>
        </p:txBody>
      </p:sp>
      <p:sp>
        <p:nvSpPr>
          <p:cNvPr id="32" name="TextBox 31"/>
          <p:cNvSpPr txBox="1"/>
          <p:nvPr/>
        </p:nvSpPr>
        <p:spPr>
          <a:xfrm>
            <a:off x="6446520" y="5330952"/>
            <a:ext cx="5349240" cy="960120"/>
          </a:xfrm>
          <a:prstGeom prst="rect">
            <a:avLst/>
          </a:prstGeom>
          <a:noFill/>
        </p:spPr>
        <p:txBody>
          <a:bodyPr wrap="square">
            <a:spAutoFit/>
          </a:bodyPr>
          <a:lstStyle/>
          <a:p>
            <a:pPr algn="l"/>
            <a:r>
              <a:rPr sz="1100" b="0" i="0">
                <a:solidFill>
                  <a:srgbClr val="F7F5EF"/>
                </a:solidFill>
              </a:rPr>
              <a:t>Customers must be told why a transfer failed (insufficient_funds / daily_limit_exceeded error codes ✓). Missing: a reversal/refund path. A failed outbound NIP leg must return funds — consumer-protection requirement, next thing to build.</a:t>
            </a:r>
          </a:p>
        </p:txBody>
      </p:sp>
      <p:sp>
        <p:nvSpPr>
          <p:cNvPr id="33" name="Rounded Rectangle 32"/>
          <p:cNvSpPr/>
          <p:nvPr/>
        </p:nvSpPr>
        <p:spPr>
          <a:xfrm>
            <a:off x="9692640" y="4965192"/>
            <a:ext cx="2103120" cy="292608"/>
          </a:xfrm>
          <a:prstGeom prst="roundRect">
            <a:avLst>
              <a:gd name="adj" fmla="val 30000"/>
            </a:avLst>
          </a:prstGeom>
          <a:solidFill>
            <a:srgbClr val="1C8B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38360" y="4983480"/>
            <a:ext cx="2011680" cy="256032"/>
          </a:xfrm>
          <a:prstGeom prst="rect">
            <a:avLst/>
          </a:prstGeom>
          <a:noFill/>
        </p:spPr>
        <p:txBody>
          <a:bodyPr wrap="square">
            <a:spAutoFit/>
          </a:bodyPr>
          <a:lstStyle/>
          <a:p>
            <a:pPr algn="ctr"/>
            <a:r>
              <a:rPr sz="950" b="1" i="0">
                <a:solidFill>
                  <a:srgbClr val="FFFFFF"/>
                </a:solidFill>
              </a:rPr>
              <a:t>Errors transparent ✓ · Reversal TBD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12169"/>
        </a:solidFill>
        <a:effectLst/>
      </p:bgPr>
    </p:bg>
    <p:spTree>
      <p:nvGrpSpPr>
        <p:cNvPr id="1" name=""/>
        <p:cNvGrpSpPr/>
        <p:nvPr/>
      </p:nvGrpSpPr>
      <p:grpSpPr/>
      <p:sp>
        <p:nvSpPr>
          <p:cNvPr id="2" name="Rectangle 1"/>
          <p:cNvSpPr/>
          <p:nvPr/>
        </p:nvSpPr>
        <p:spPr>
          <a:xfrm>
            <a:off x="0" y="64008"/>
            <a:ext cx="12188952" cy="50292"/>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155680" cy="822960"/>
          </a:xfrm>
          <a:prstGeom prst="rect">
            <a:avLst/>
          </a:prstGeom>
          <a:noFill/>
        </p:spPr>
        <p:txBody>
          <a:bodyPr wrap="square">
            <a:spAutoFit/>
          </a:bodyPr>
          <a:lstStyle/>
          <a:p>
            <a:pPr algn="l"/>
            <a:r>
              <a:rPr sz="3600" b="1" i="0">
                <a:solidFill>
                  <a:srgbClr val="D4A017"/>
                </a:solidFill>
              </a:rPr>
              <a:t>Demo &amp; What I'd Build Next</a:t>
            </a:r>
          </a:p>
        </p:txBody>
      </p:sp>
      <p:sp>
        <p:nvSpPr>
          <p:cNvPr id="4" name="TextBox 3"/>
          <p:cNvSpPr txBox="1"/>
          <p:nvPr/>
        </p:nvSpPr>
        <p:spPr>
          <a:xfrm>
            <a:off x="502920" y="896112"/>
            <a:ext cx="11155680" cy="411480"/>
          </a:xfrm>
          <a:prstGeom prst="rect">
            <a:avLst/>
          </a:prstGeom>
          <a:noFill/>
        </p:spPr>
        <p:txBody>
          <a:bodyPr wrap="square">
            <a:spAutoFit/>
          </a:bodyPr>
          <a:lstStyle/>
          <a:p>
            <a:pPr algn="l"/>
            <a:r>
              <a:rPr sz="1300" b="0" i="0">
                <a:solidFill>
                  <a:srgbClr val="5B6478"/>
                </a:solidFill>
              </a:rPr>
              <a:t>Running now — docker compose up  →  http://localhost:8080</a:t>
            </a:r>
          </a:p>
        </p:txBody>
      </p:sp>
      <p:pic>
        <p:nvPicPr>
          <p:cNvPr id="5" name="Picture 4" descr="portal-dashboard.png"/>
          <p:cNvPicPr>
            <a:picLocks noChangeAspect="1"/>
          </p:cNvPicPr>
          <p:nvPr/>
        </p:nvPicPr>
        <p:blipFill>
          <a:blip r:embed="rId2"/>
          <a:stretch>
            <a:fillRect/>
          </a:stretch>
        </p:blipFill>
        <p:spPr>
          <a:xfrm>
            <a:off x="320040" y="1371600"/>
            <a:ext cx="7132320" cy="4141840"/>
          </a:xfrm>
          <a:prstGeom prst="rect">
            <a:avLst/>
          </a:prstGeom>
        </p:spPr>
      </p:pic>
      <p:sp>
        <p:nvSpPr>
          <p:cNvPr id="6" name="Rounded Rectangle 5"/>
          <p:cNvSpPr/>
          <p:nvPr/>
        </p:nvSpPr>
        <p:spPr>
          <a:xfrm>
            <a:off x="7680960" y="1371600"/>
            <a:ext cx="4343400" cy="5212080"/>
          </a:xfrm>
          <a:prstGeom prst="roundRect">
            <a:avLst>
              <a:gd name="adj" fmla="val 30000"/>
            </a:avLst>
          </a:prstGeom>
          <a:solidFill>
            <a:srgbClr val="041B52"/>
          </a:solidFill>
          <a:ln w="19050">
            <a:solidFill>
              <a:srgbClr val="D4A0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1463040"/>
            <a:ext cx="4023360" cy="365760"/>
          </a:xfrm>
          <a:prstGeom prst="rect">
            <a:avLst/>
          </a:prstGeom>
          <a:noFill/>
        </p:spPr>
        <p:txBody>
          <a:bodyPr wrap="square">
            <a:spAutoFit/>
          </a:bodyPr>
          <a:lstStyle/>
          <a:p>
            <a:pPr algn="l"/>
            <a:r>
              <a:rPr sz="1400" b="1" i="0">
                <a:solidFill>
                  <a:srgbClr val="D4A017"/>
                </a:solidFill>
              </a:rPr>
              <a:t>What I'd build next</a:t>
            </a:r>
          </a:p>
        </p:txBody>
      </p:sp>
      <p:sp>
        <p:nvSpPr>
          <p:cNvPr id="8" name="TextBox 7"/>
          <p:cNvSpPr txBox="1"/>
          <p:nvPr/>
        </p:nvSpPr>
        <p:spPr>
          <a:xfrm>
            <a:off x="7772400" y="1874519"/>
            <a:ext cx="4160520" cy="3291840"/>
          </a:xfrm>
          <a:prstGeom prst="rect">
            <a:avLst/>
          </a:prstGeom>
          <a:noFill/>
        </p:spPr>
        <p:txBody>
          <a:bodyPr wrap="square">
            <a:spAutoFit/>
          </a:bodyPr>
          <a:lstStyle/>
          <a:p>
            <a:pPr algn="l">
              <a:spcBef>
                <a:spcPts val="400"/>
              </a:spcBef>
            </a:pPr>
            <a:r>
              <a:rPr sz="1250" b="1" i="0">
                <a:solidFill>
                  <a:srgbClr val="F2C94C"/>
                </a:solidFill>
              </a:rPr>
              <a:t>▸  KycTier on Wallet → per-tier daily limit</a:t>
            </a:r>
          </a:p>
          <a:p>
            <a:pPr algn="l">
              <a:spcBef>
                <a:spcPts val="400"/>
              </a:spcBef>
            </a:pPr>
            <a:r>
              <a:rPr sz="1250" b="1" i="0">
                <a:solidFill>
                  <a:srgbClr val="F2C94C"/>
                </a:solidFill>
              </a:rPr>
              <a:t>▸  Reversal / refund endpoint</a:t>
            </a:r>
          </a:p>
          <a:p>
            <a:pPr algn="l">
              <a:spcBef>
                <a:spcPts val="400"/>
              </a:spcBef>
            </a:pPr>
            <a:r>
              <a:rPr sz="1250" b="0" i="0">
                <a:solidFill>
                  <a:srgbClr val="F7F5EF"/>
                </a:solidFill>
              </a:rPr>
              <a:t>▸  Pending / settled transaction states (NIP)</a:t>
            </a:r>
          </a:p>
          <a:p>
            <a:pPr algn="l">
              <a:spcBef>
                <a:spcPts val="400"/>
              </a:spcBef>
            </a:pPr>
            <a:r>
              <a:rPr sz="1250" b="0" i="0">
                <a:solidFill>
                  <a:srgbClr val="F7F5EF"/>
                </a:solidFill>
              </a:rPr>
              <a:t>▸  USSD adapter (MSISDN + PIN auth)</a:t>
            </a:r>
          </a:p>
          <a:p>
            <a:pPr algn="l">
              <a:spcBef>
                <a:spcPts val="400"/>
              </a:spcBef>
            </a:pPr>
            <a:r>
              <a:rPr sz="1250" b="0" i="0">
                <a:solidFill>
                  <a:srgbClr val="F7F5EF"/>
                </a:solidFill>
              </a:rPr>
              <a:t>▸  NDPA retention policy on audit_logs</a:t>
            </a:r>
          </a:p>
          <a:p>
            <a:pPr algn="l">
              <a:spcBef>
                <a:spcPts val="400"/>
              </a:spcBef>
            </a:pPr>
            <a:r>
              <a:rPr sz="1250" b="0" i="0">
                <a:solidFill>
                  <a:srgbClr val="F7F5EF"/>
                </a:solidFill>
              </a:rPr>
              <a:t>▸  Token refresh + JWKS endpoint</a:t>
            </a:r>
          </a:p>
          <a:p>
            <a:pPr algn="l">
              <a:spcBef>
                <a:spcPts val="400"/>
              </a:spcBef>
            </a:pPr>
            <a:r>
              <a:rPr sz="1250" b="0" i="0">
                <a:solidFill>
                  <a:srgbClr val="F7F5EF"/>
                </a:solidFill>
              </a:rPr>
              <a:t>▸  Multi-currency FX + kobo rounding policy</a:t>
            </a:r>
          </a:p>
        </p:txBody>
      </p:sp>
      <p:sp>
        <p:nvSpPr>
          <p:cNvPr id="9" name="TextBox 8"/>
          <p:cNvSpPr txBox="1"/>
          <p:nvPr/>
        </p:nvSpPr>
        <p:spPr>
          <a:xfrm>
            <a:off x="7863840" y="5166360"/>
            <a:ext cx="4023360" cy="365760"/>
          </a:xfrm>
          <a:prstGeom prst="rect">
            <a:avLst/>
          </a:prstGeom>
          <a:noFill/>
        </p:spPr>
        <p:txBody>
          <a:bodyPr wrap="square">
            <a:spAutoFit/>
          </a:bodyPr>
          <a:lstStyle/>
          <a:p>
            <a:pPr algn="l"/>
            <a:r>
              <a:rPr sz="1400" b="1" i="0">
                <a:solidFill>
                  <a:srgbClr val="D4A017"/>
                </a:solidFill>
              </a:rPr>
              <a:t>Key trade-offs made</a:t>
            </a:r>
          </a:p>
        </p:txBody>
      </p:sp>
      <p:sp>
        <p:nvSpPr>
          <p:cNvPr id="10" name="TextBox 9"/>
          <p:cNvSpPr txBox="1"/>
          <p:nvPr/>
        </p:nvSpPr>
        <p:spPr>
          <a:xfrm>
            <a:off x="7772400" y="5577840"/>
            <a:ext cx="4160520" cy="914400"/>
          </a:xfrm>
          <a:prstGeom prst="rect">
            <a:avLst/>
          </a:prstGeom>
          <a:noFill/>
        </p:spPr>
        <p:txBody>
          <a:bodyPr wrap="square">
            <a:spAutoFit/>
          </a:bodyPr>
          <a:lstStyle/>
          <a:p>
            <a:pPr algn="l">
              <a:spcBef>
                <a:spcPts val="400"/>
              </a:spcBef>
            </a:pPr>
            <a:r>
              <a:rPr sz="1150" b="0" i="0">
                <a:solidFill>
                  <a:srgbClr val="F7F5EF"/>
                </a:solidFill>
              </a:rPr>
              <a:t>▸  Pessimistic row locks over optimistic retry</a:t>
            </a:r>
          </a:p>
          <a:p>
            <a:pPr algn="l">
              <a:spcBef>
                <a:spcPts val="100"/>
              </a:spcBef>
            </a:pPr>
            <a:r>
              <a:rPr sz="950" b="0" i="1">
                <a:solidFill>
                  <a:srgbClr val="F7F5EF"/>
                </a:solidFill>
              </a:rPr>
              <a:t>    → correct under burst, simpler to reason about</a:t>
            </a:r>
          </a:p>
          <a:p>
            <a:pPr algn="l">
              <a:spcBef>
                <a:spcPts val="400"/>
              </a:spcBef>
            </a:pPr>
            <a:r>
              <a:rPr sz="1150" b="0" i="0">
                <a:solidFill>
                  <a:srgbClr val="F7F5EF"/>
                </a:solidFill>
              </a:rPr>
              <a:t>▸  Daily limit from history, no reset cron job</a:t>
            </a:r>
          </a:p>
          <a:p>
            <a:pPr algn="l">
              <a:spcBef>
                <a:spcPts val="400"/>
              </a:spcBef>
            </a:pPr>
            <a:r>
              <a:rPr sz="1150" b="0" i="0">
                <a:solidFill>
                  <a:srgbClr val="F7F5EF"/>
                </a:solidFill>
              </a:rPr>
              <a:t>▸  Mock issuer — middleware is what's scored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